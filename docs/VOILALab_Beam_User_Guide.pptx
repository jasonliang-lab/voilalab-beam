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89" r:id="rId10"/>
    <p:sldId id="264" r:id="rId11"/>
    <p:sldId id="265" r:id="rId12"/>
    <p:sldId id="266" r:id="rId13"/>
    <p:sldId id="288"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p:scale>
          <a:sx n="118" d="100"/>
          <a:sy n="118" d="100"/>
        </p:scale>
        <p:origin x="264"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17:30:57.318"/>
    </inkml:context>
    <inkml:brush xml:id="br0">
      <inkml:brushProperty name="width" value="0.035" units="cm"/>
      <inkml:brushProperty name="height" value="0.035" units="cm"/>
      <inkml:brushProperty name="color" value="#E71224"/>
    </inkml:brush>
  </inkml:definitions>
  <inkml:trace contextRef="#ctx0" brushRef="#br0">48 1204 24575,'5'-1'0,"-1"-1"0,-3-5 0,-1-4 0,0-4 0,0-4 0,-1 0 0,-1-3 0,-1 1 0,-2-3 0,-2-6 0,-1-6 0,0-6 0,1-3 0,1 2 0,2 4 0,0 3 0,3 3 0,-1 2 0,2-1 0,0 1 0,1-2 0,2-5 0,5-4 0,3-5 0,6-4 0,1 2 0,3 4 0,0 9 0,-1 9 0,-2 6 0,-1 6 0,1 2 0,1 1 0,3-2 0,4-1 0,6-5 0,6-3 0,5-2 0,3-1 0,-1 3 0,-2 3 0,-4 5 0,-4 3 0,-2 2 0,2 2 0,0 1 0,1 0 0,2 2 0,1 1 0,0 3 0,-2 1 0,-2 0 0,-2 0 0,-1 1 0,-1 4 0,-2 3 0,-2 5 0,-2 3 0,0 1 0,-1 3 0,1 0 0,-1 2 0,-3-1 0,-1-1 0,-4-1 0,-1-3 0,-2 0 0,-3 1 0,-1-1 0,-3 0 0,-2 0 0,-1-1 0,-1 1 0,0 3 0,-1 2 0,0 3 0,-1 2 0,0 1 0,0 2 0,0 1 0,0 1 0,0 2 0,0 2 0,-1 2 0,-2 0 0,-2 0 0,-2-2 0,-1-4 0,-2 2 0,-1 1 0,-4 2 0,0 1 0,-1-4 0,-1-4 0,-2-1 0,-4 1 0,-1 0 0,-2 2 0,2-3 0,2-3 0,2 2 0,-1 1 0,-2 2 0,1 1 0,0-4 0,4-6 0,4-5 0,4-5 0,2-2 0,3-1 0,2-1 0,1 1 0,2 1 0,-1 0 0,1 3 0,0 1 0,0 2 0,-1 1 0,-1 1 0,0-4 0,-1 0 0,1-4 0,1-1 0,0-3 0,1 1 0,0 1 0,0 2 0,1 2 0,2 0 0,3 0 0,1 2 0,1 0 0,0 0 0,-1 0 0,1-2 0,0 0 0,0 0 0,1 1 0,0-2 0,1-1 0,0-1 0,0 0 0,2 0 0,4 1 0,0 1 0,3 0 0,0 0 0,1-1 0,0-1 0,0-1 0,-1-1 0,2-1 0,3-2 0,4 0 0,4 0 0,5 0 0,6 0 0,5 1 0,5-2 0,1 0 0,-1-1 0,-2-1 0,-3 0 0,1 0 0,1 0 0,6 0 0,3 0 0,5 0 0,1 0 0,-5 0 0,-2 0 0,-6 0 0,-4 0 0,0 0 0,1 0 0,4 0 0,5 0 0,3 0 0,1 0 0,-2 0 0,-6 0 0,-6 0 0,-3 0 0,-1 0 0,1 0 0,3 0 0,3 0 0,4 0 0,2 0 0,-1 0 0,-4 0 0,-5 0 0,-6 0 0,-5 0 0,-3 1 0,-3 0 0,-1 1 0,1 0 0,2-2 0,5 0 0,3 0 0,3 0 0,3 0 0,1 0 0,-1 0 0,1 0 0,-1 0 0,0 0 0,0 0 0,-4 0 0,-3 0 0,-6 0 0,-4 0 0,-2 0 0,-2 0 0,1 0 0,3 0 0,-1 0 0,-3 0 0,-5 0 0,-4 0 0,0 0 0,-1 0 0,1 0 0,-1 0 0,-2 0 0,1 0 0,-1 0 0,0 0 0,0 0 0,-2 0 0,0 0 0,0 0 0,2 0 0,0 0 0,0 0 0,0 0 0,-2 0 0,0-2 0,0-1 0,0 1 0,1-2 0,-1 0 0,0 1 0,0-1 0,2 0 0,0-1 0,0 0 0,-1-1 0,0 2 0,-2 0 0,-2 0 0,-1 0 0,-1-2 0,-1 1 0,1 0 0,0 1 0,-1 0 0,1 2 0,-2-1 0,-1-1 0,1-1 0,-1 0 0,-1-2 0,-1-1 0,0 0 0,-1-1 0,0 1 0,0-1 0,0 1 0,0 0 0,0 1 0,0-1 0,0 0 0,-2 0 0,1 0 0,-1 1 0,-1 1 0,2 2 0,0-2 0,0 0 0,0 0 0,-1-1 0,-1 1 0,0 0 0,1 1 0,-1 0 0,1 1 0,0 0 0,0-1 0,0 0 0,-1 0 0,0 0 0,-1 0 0,0 1 0,1 0 0,-1 1 0,1 0 0,0 0 0,-3 2 0,1-1 0,-1 0 0,1 0 0,-1-1 0,1 1 0,0 1 0,0-1 0,0 0 0,-1-2 0,-2 0 0,-2-2 0,-1 0 0,0-2 0,0 1 0,1 0 0,1 1 0,-1 1 0,-1-1 0,0-1 0,0 0 0,-2-1 0,-1 0 0,-3-1 0,-2-2 0,-2 1 0,-2 1 0,-2 1 0,1 1 0,3 1 0,-1 0 0,1 0 0,-2-1 0,-4 1 0,0 0 0,0-1 0,-2 1 0,2 0 0,-2 0 0,-2 1 0,2 0 0,-2 2 0,-2 2 0,0-1 0,-3 1 0,1-1 0,2 0 0,-1-1 0,0-1 0,1 1 0,0-2 0,0 2 0,2 0 0,-2 0 0,0 1 0,-1 1 0,-2 1 0,2 0 0,2 0 0,4 0 0,3 0 0,2 0 0,0 0 0,1 0 0,-1 0 0,2 0 0,-1 0 0,1 0 0,0 0 0,2 0 0,1 0 0,-1 0 0,1 0 0,0 1 0,0 0 0,2 1 0,1-1 0,1 0 0,-1 1 0,-2 1 0,-1 0 0,0-1 0,-1 1 0,1-2 0,-2 2 0,-3-1 0,-5 1 0,-4 0 0,-3 0 0,2 1 0,2-2 0,3-1 0,3 1 0,0 0 0,-1 2 0,-3 0 0,-2 1 0,-2 1 0,0-1 0,2 1 0,2-2 0,2-1 0,0-2 0,-1 2 0,-5 1 0,-1 1 0,-1 0 0,1-1 0,0 2 0,0-1 0,2 0 0,0-1 0,5 1 0,3-2 0,5 0 0,0 0 0,1-1 0,-1-1 0,-1 1 0,-2-2 0,1 0 0,1 0 0,0 0 0,2 0 0,0 0 0,0 0 0,0 0 0,0 0 0,2 0 0,-1 0 0,0 0 0,0 0 0,-2 0 0,2 0 0,-2 0 0,0 0 0,0 0 0,-1 0 0,1 0 0,-1 0 0,0 0 0,-1 0 0,0 0 0,0 0 0,0 0 0,2 0 0,0 0 0,1 0 0,2 0 0,1 0 0,2 0 0,1 0 0,2 0 0,1 0 0,0 0 0,2 0 0,0 0 0,2 0 0,0 0 0,0 0 0,0 0 0,0 0 0,0-2 0,1 0 0,0-2 0,0-1 0,-2 1 0,2 0 0,0 0 0,1-1 0,1 0 0,-1-1 0,2 0 0,-1 2 0,0-2 0,1 2 0,-1-1 0,2 0 0,0 0 0,-2 0 0,1 1 0,-1 0 0,1 0 0,1-1 0,0 0 0,-1-1 0,-1 0 0,1 0 0,-1 1 0,2 0 0,0-1 0,0 0 0,0 1 0,0-1 0,0 0 0,0 0 0,0 0 0,0 0 0,0 1 0,0-1 0,0-1 0,0 0 0,0 0 0,0 0 0,0 1 0,0 0 0,0 0 0,0 0 0,0 0 0,0-1 0,0 1 0,0-1 0,0 1 0,1 0 0,1 0 0,2-1 0,0 1 0,1 0 0,0 2 0,-1 0 0,2-1 0,0 0 0,0-1 0,1 1 0,-1 0 0,0 1 0,-1 0 0,1 0 0,-1-1 0,1 0 0,0 0 0,0 0 0,0 1 0,-1 0 0,-1-1 0,-2 2 0,-2-1 0,-2 2 0,-1-1 0,0-1 0,1-1 0,-1 1 0,0 1 0,-1 0 0,1 0 0,1-1 0,0 1 0,1 0 0,0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17:40:08.450"/>
    </inkml:context>
    <inkml:brush xml:id="br0">
      <inkml:brushProperty name="width" value="0.035" units="cm"/>
      <inkml:brushProperty name="height" value="0.035" units="cm"/>
      <inkml:brushProperty name="color" value="#E71224"/>
    </inkml:brush>
  </inkml:definitions>
  <inkml:trace contextRef="#ctx0" brushRef="#br0">1 0 24575,'7'2'0,"3"3"0,5 6 0,2 8 0,1 5 0,-1 3 0,1 4 0,-3 2 0,0 4 0,-1 1 0,0 1 0,-1 0 0,-1-2 0,-1 1 0,-2-3 0,-3 2 0,-2 4 0,-2 2 0,-1 1 0,-1 0 0,0-4 0,0-2 0,0 0 0,-2 0 0,1 2 0,-1 2 0,1-1 0,1-1 0,0 2 0,0-3 0,0-1 0,0-2 0,0-5 0,0-3 0,0-3 0,0 1 0,0 3 0,1 1 0,2 2 0,0-3 0,0-4 0,-1-3 0,0-2 0,0 2 0,1 3 0,1 3 0,0 0 0,0-3 0,1-4 0,-1-5 0,-1-6 0,-1-2 0,0-2 0,1 0 0,1 3 0,1 2 0,0 1 0,1 1 0,-2-3 0,-1-3 0,1-3 0,-2-2 0,3 2 0,1 2 0,1 3 0,0 0 0,0 1 0,-1-1 0,-2-2 0,-1-3 0,0 1 0,0 1 0,2 2 0,1 1 0,1 1 0,-1-1 0,-1-2 0,-2-1 0,1-1 0,1 0 0,1 3 0,0-1 0,0 0 0,-2-1 0,1-1 0,1 1 0,1 1 0,3 3 0,-1-1 0,1 1 0,-2-3 0,-2-1 0,0-2 0,0 0 0,2 2 0,2 1 0,-1 1 0,1-1 0,0-1 0,-1-2 0,2 0 0,1-1 0,3 0 0,3 2 0,4-2 0,1 0 0,2-2 0,0-1 0,-1 0 0,-1 1 0,-1 1 0,1-1 0,3 0 0,1-1 0,2 0 0,-3 0 0,-1 0 0,2 0 0,1 0 0,4 0 0,2 0 0,0 0 0,-2 0 0,-2 0 0,-2 0 0,1 0 0,2 0 0,4 1 0,5 2 0,2 2 0,1 3 0,-5 1 0,-6-3 0,-5-1 0,-4-1 0,1-2 0,3 0 0,5 0 0,2-2 0,-1 0 0,1 0 0,0 0 0,-1 0 0,1 0 0,-2 0 0,-1 0 0,-2 0 0,-4 0 0,-3 0 0,-1 0 0,-1 0 0,2 0 0,2 0 0,2 0 0,-3-1 0,-1-1 0,-4-2 0,1-3 0,1 0 0,-1-1 0,1 0 0,-1 0 0,0 0 0,0 0 0,-4 0 0,-2 0 0,-2 1 0,-3 0 0,0 1 0,-2 0 0,-1-1 0,1-1 0,-2 1 0,-1 1 0,-2 1 0,0-1 0,-1 0 0,0-1 0,0-1 0,0-1 0,0-4 0,-2-3 0,-2-1 0,-2 0 0,0 4 0,2 4 0,-1 3 0,1 3 0,-1 1 0,1-1 0,-2-1 0,-5-4 0,-8-5 0,-8-6 0,-4-3 0,2 1 0,4 2 0,5 5 0,3 2 0,0 3 0,0 2 0,1 1 0,3 2 0,3 2 0,2 1 0,2 1 0,-1 0 0,-2 0 0,-2 0 0,-2 0 0,0 0 0,0 0 0,0 0 0,-2 0 0,-2 0 0,-1 0 0,-2 0 0,-1 0 0,3 0 0,3 0 0,4 0 0,-1 0 0,-3 0 0,-3 0 0,0 0 0,-2 0 0,-1 0 0,-4 0 0,-3 0 0,-2 0 0,-1 0 0,4 0 0,2 0 0,4 0 0,-2 0 0,-2 0 0,-1 0 0,1 0 0,2 0 0,1 0 0,-2 0 0,-3 0 0,-2 0 0,-1 0 0,0 0 0,2 0 0,1 0 0,-1 0 0,-1 0 0,2 0 0,1 0 0,2 0 0,1-1 0,-3 0 0,-2-1 0,-2 1 0,2 0 0,2 0 0,1-1 0,1-2 0,-4-1 0,-4 1 0,0 0 0,1 2 0,4 1 0,4 1 0,4-1 0,0-1 0,-1 0 0,-2-1 0,-1 0 0,1 0 0,3 2 0,3 0 0,3 0 0,2-1 0,1 1 0,0-1 0,-1 1 0,-1-1 0,1 0 0,0-1 0,3 1 0,-1-1 0,2 1 0,1 1 0,-1-2 0,0 1 0,-2-1 0,-1 0 0,1-1 0,-1 0 0,2 0 0,1 0 0,3 1 0,1 0 0,1 0 0,1 0 0,0 0 0,0-1 0,1 0 0,0-1 0,0 0 0,0 0 0,-1 1 0,0 1 0,-1 0 0,0-1 0,-1 0 0,0-1 0,0 1 0,0 0 0,1 0 0,-1 0 0,1 0 0,-1 1 0,1 0 0,0 0 0,1 0 0,1-1 0,-1-2 0,-4-1 0,-1-2 0,-3-4 0,0 0 0,2 0 0,2 2 0,2 4 0,3 3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17:41:31.983"/>
    </inkml:context>
    <inkml:brush xml:id="br0">
      <inkml:brushProperty name="width" value="0.035" units="cm"/>
      <inkml:brushProperty name="height" value="0.035" units="cm"/>
      <inkml:brushProperty name="color" value="#E71224"/>
    </inkml:brush>
  </inkml:definitions>
  <inkml:trace contextRef="#ctx0" brushRef="#br0">1995 1 24575,'3'11'0,"6"6"0,6 9 0,11 15 0,7 14 0,7 13 0,9 12 0,2 0 0,3 3 0,0-2 0,1 2 0,-26-38 0,-1 1 0,1 2 0,-1 1 0,0 0 0,-1 1 0,-1 1 0,-1 1 0,0-4 0,0 0 0,-1-2 0,0-1 0,21 43 0,-4-10 0,-3-1 0,-5-7 0,0-2 0,-2-3 0,-1-1 0,0 2 0,1-1 0,1 3 0,0 2 0,-4 4 0,-2 1 0,2-5 0,2 4 0,2 0 0,1 1 0,-3 3 0,-2-1 0,-3 0 0,-2-2 0,-3-10 0,-2-12 0,-3-13 0,-3-7 0,-3-3 0,-1-1 0,-2-1 0,0 1 0,-1 1 0,0-2 0,1 3 0,-2-1 0,-1-1 0,-1-3 0,0-6 0,-1-6 0,0-5 0,0-1 0,-3-1 0,-4 2 0,-5 4 0,-5 2 0,-2-1 0,2 0 0,3-4 0,1-3 0,0 0 0,-5-1 0,-5 2 0,-2 1 0,-1 1 0,0-2 0,-2-1 0,-3-1 0,-3 0 0,0-1 0,-1 0 0,0-1 0,-4-1 0,-2 0 0,-2-1 0,-1 0 0,0-1 0,-1-1 0,-5 0 0,-11 0 0,-7 0 0,-3 0 0,9 0 0,15 0 0,9 0 0,5 0 0,-6 0 0,-8 0 0,2 0 0,3 0 0,6 0 0,5 1 0,0 0 0,-3 3 0,-2 1 0,-7 3 0,-4 2 0,-7 3 0,-19 10 0,-9 3 0,33-11 0,-1 0 0,0-1 0,0-1 0,-38 7 0,10-6 0,15-7 0,0-4 0,3-3 0,1 0 0,8 0 0,14 0 0,10 0 0,6 0 0,1 0 0,-5-1 0,-5-2 0,0-2 0,2-1 0,3 1 0,-2-1 0,-3-1 0,-8 0 0,-3-2 0,-1-2 0,3 1 0,6-2 0,1 0 0,0-3 0,-5-3 0,-3 0 0,-1 2 0,1 2 0,3 2 0,5 3 0,3 1 0,4 2 0,3 0 0,2 0 0,1 0 0,0-1 0,-2-2 0,0-1 0,0-3 0,0-3 0,1-2 0,3 0 0,2 1 0,1 0 0,-1-2 0,-1-2 0,-2-2 0,0-2 0,1 0 0,5 3 0,6 6 0,4 6 0,3 2 0,6 1 0,9-3 0,9-2 0,9-3 0,7 1 0,7 1 0,6 0 0,5 1 0,1 2 0,-4 2 0,-3 3 0,-5 3 0,6 1 0,9 0 0,8-1 0,10-1 0,4-1 0,-2 1 0,0 1 0,5 1 0,2 1 0,5 0 0,0 0 0,-6 0 0,-6 0 0,-10 3 0,-6 3 0,-3 3 0,4 3 0,3 0 0,1-1 0,-1 1 0,-3-2 0,3 1 0,-2 1 0,4-1 0,-2-3 0,-8-1 0,-4-4 0,-10-1 0,-5-1 0,-2-1 0,-3 0 0,1 0 0,-3 0 0,-6 0 0,-4 0 0,-5 0 0,-2 0 0,2 0 0,1 0 0,1 0 0,3 0 0,0 0 0,-3 0 0,-3 0 0,-5 0 0,-4 0 0,-4 0 0,-3 0 0,0 0 0,1 0 0,4 0 0,2 0 0,3-1 0,1 0 0,-1 0 0,-2-1 0,0 0 0,-1 1 0,-2-1 0,0 0 0,-3-1 0,-3 1 0,-1-1 0,-2 0 0,1-2 0,-1 1 0,1-2 0,-2 1 0,3 0 0,-1-1 0,1 2 0,-1-2 0,0 1 0,-1-2 0,1 1 0,0-1 0,-1 1 0,0 2 0,0-1 0,2 0 0,1 0 0,-1-1 0,1 0 0,1 0 0,-1 0 0,-1 0 0,-1 0 0,-1 1 0,-1-1 0,-1 1 0,0 0 0,0 0 0,0-1 0,0 1 0,0 0 0,0 0 0,0-1 0,0 1 0,0 1 0,0-1 0,-1 1 0,-1-2 0,-2-2 0,-1 1 0,0 0 0,0 2 0,1 0 0,0 2 0,2 1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1T17:42:38.984"/>
    </inkml:context>
    <inkml:brush xml:id="br0">
      <inkml:brushProperty name="width" value="0.035" units="cm"/>
      <inkml:brushProperty name="height" value="0.035" units="cm"/>
      <inkml:brushProperty name="color" value="#E71224"/>
    </inkml:brush>
  </inkml:definitions>
  <inkml:trace contextRef="#ctx0" brushRef="#br0">6001 0 24575,'2'6'0,"1"2"0,-1 7 0,2 5 0,2 5 0,-1 3 0,0 3 0,0 4 0,-1 7 0,1 10 0,0 6 0,2 8 0,-2 3 0,1 5 0,0 0 0,-1-1 0,-2 1 0,-1 5 0,-2 0 0,0 5 0,0 6 0,-2 7 0,0-43 0,-1 0 0,-2 0 0,0 1 0,-2 1 0,-2-1 0,1-4 0,0 1 0,-1 3 0,-1 1 0,1 3 0,-1 0 0,1 2 0,-1 0 0,0 5 0,-1 0 0,0-1 0,-1 1 0,-1-1 0,0 0 0,-1 0 0,-2-1 0,-1-2 0,-2-1 0,-2-2 0,-1 0 0,-3 0 0,-2-1 0,-1-2 0,-1-2 0,1-2 0,-1-3 0,0-4 0,0-2 0,-27 31 0,-1-8 0,-8-7 0,-13-7 0,1-11 0,16-15 0,20-14 0,23-10 0,1-2 0,-7 1 0,-3-1 0,-4 0 0,2 1 0,-1 2 0,0 1 0,-1 1 0,0 0 0,-1-2 0,-2 0 0,0-2 0,4 1 0,1 1 0,4-2 0,0 1 0,-2-1 0,-2-1 0,-1 0 0,-2 0 0,-2 0 0,1 0 0,-2 0 0,-1 0 0,-1 0 0,-2 0 0,-4 0 0,-7-2 0,-12-4 0,-9-4 0,-7-3 0,0 0 0,3 1 0,6 2 0,10 3 0,8 1 0,7 4 0,4 0 0,3 1 0,3 1 0,4 0 0,3 0 0,0 0 0,1 0 0,0-1 0,-1-1 0,0-1 0,-1-1 0,-3 0 0,-10-3 0,0 0 0,-3 2 0,-3 2 0,-2 3 0,-17 0 0,-16 0 0,0 0 0,7 0 0,18-3 0,20 0 0,5-2 0,4 0 0,-2 1 0,-4-1 0,-2-1 0,-1 0 0,-2 0 0,1-2 0,-1 0 0,-4 1 0,-1-1 0,-1 2 0,-1-1 0,4 1 0,1 1 0,-1 1 0,1 0 0,-1 1 0,4 0 0,4 2 0,4-1 0,0 2 0,-3 0 0,-2 0 0,-3 0 0,0 0 0,1 0 0,1 0 0,1 0 0,-1 2 0,-2-1 0,-4 1 0,-8-1 0,-13-1 0,-7 0 0,-5 0 0,2 0 0,9 0 0,7 0 0,10 0 0,6 0 0,0 0 0,0 0 0,-2 0 0,1 0 0,1 0 0,3 0 0,0 0 0,-1 0 0,-3 0 0,1 0 0,1 0 0,3 0 0,0 0 0,-4 0 0,-3-3 0,-2-3 0,2-3 0,5-5 0,2 1 0,3-2 0,4 0 0,3-2 0,4-1 0,5 1 0,5 3 0,6 3 0,3 4 0,3 0 0,2 1 0,1 1 0,1 1 0,3-3 0,0-8 0,1-8 0,0-4 0,-1 4 0,-1 7 0,-1 6 0,-1 5 0,-1 1 0,2-2 0,2-5 0,2-6 0,4-7 0,3-3 0,2-2 0,0 5 0,-3 6 0,-3 7 0,-4 5 0,-1 3 0,0-1 0,3-3 0,6-4 0,4-5 0,3-2 0,0 2 0,-2 1 0,-1 5 0,-3 2 0,-2 2 0,1 2 0,3 0 0,2 1 0,1 0 0,-1-1 0,-2 0 0,-2 1 0,-1-1 0,1 1 0,4 1 0,6-1 0,6 2 0,2 0 0,1 1 0,-4 0 0,-4 0 0,-3 0 0,-3 0 0,0 0 0,1 0 0,1 0 0,2 0 0,-2 0 0,0 0 0,-2 0 0,-1 0 0,0 0 0,2 0 0,4 0 0,4 0 0,4 0 0,1 0 0,-1 0 0,-3 0 0,-5 0 0,-4 0 0,-2 0 0,2 0 0,1 2 0,5-1 0,2 1 0,1-1 0,-1-1 0,2 0 0,-2 2 0,4-1 0,4 0 0,5 0 0,3-1 0,1 0 0,-2 0 0,-6 0 0,-4 0 0,-6 0 0,-1 0 0,-2-2 0,-1 1 0,-1-1 0,-1 2 0,2 0 0,0 0 0,-1 0 0,-1 0 0,-2 0 0,-1 0 0,0-1 0,1-2 0,6-2 0,6-4 0,7-2 0,3-1 0,1-1 0,-6 1 0,-4 2 0,-6 1 0,-1 3 0,-2 4 0,0 0 0,4 2 0,1-1 0,4-1 0,3 0 0,3 1 0,0 1 0,-1 0 0,-3 0 0,-5 0 0,-3 0 0,-3 0 0,-3 0 0,-3 0 0,-2 0 0,0 1 0,1 1 0,6 1 0,3 0 0,4-1 0,4-2 0,2 0 0,2 0 0,0 0 0,0 0 0,-2 0 0,-2 0 0,-3 0 0,-3-1 0,-2 0 0,-2-2 0,-1 1 0,-2-1 0,-4 0 0,-5 0 0,-2 1 0,1 1 0,0 2 0,2 4 0,0 1 0,2 1 0,6 2 0,6 1 0,7 1 0,2 1 0,0-2 0,-4 0 0,-4-3 0,-1 0 0,0 0 0,1 1 0,0 1 0,-1-2 0,-3 0 0,-3-1 0,-2-1 0,2-1 0,3 1 0,7 0 0,6 2 0,3 0 0,0 2 0,-5-3 0,-3 0 0,-1-1 0,6 2 0,8 2 0,3 3 0,-2 0 0,-9-1 0,-13-4 0,-9-4 0,-3-1 0,3 0 0,10 1 0,11 1 0,11-1 0,4-1 0,-1 0 0,-4-1 0,-8-1 0,-5 0 0,-5 1 0,-1 2 0,-2 4 0,2 2 0,-1 2 0,-2 0 0,-4-1 0,-5-1 0,-5-3 0,-4-2 0,-4-1 0,-1 0 0,0 1 0,4 4 0,7 5 0,11 11 0,2 3 0,-3-3 0,-8-5 0,-7-10 0,-4-1 0,2 3 0,1 3 0,-2 3 0,-1 3 0,-3 0 0,-1 0 0,0-2 0,0-1 0,0 1 0,-1-1 0,-1 1 0,-1 0 0,-2 1 0,-2 1 0,-1 2 0,0 0 0,0-3 0,1-2 0,0-2 0,2-3 0,1-1 0,1-4 0,0-2 0,1-2 0,-2 0 0,-6 8 0,5-5 0,-6 5 0,8-7 0,-1-2 0,2 0 0,-3 1 0,-1 0 0,-2 2 0,-3 1 0,0 2 0,-1 2 0,2 0 0,1-2 0,2-3 0,2-2 0,2-2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139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5EB8C-B2FA-2842-4749-F7F7C8D14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7864E-0AA2-5DDB-9B82-A0A7C709AF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158DCA-CD27-1576-C8A2-92AD57739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90D665-BD94-9674-5AB9-6E0886E05BD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30844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6F6CD-28EF-C95F-ADC8-B10DE1BDE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91254-F72D-401E-8AC4-02C4B2EDE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2A61D-523D-8ABD-97D3-04F742B966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4F6649-F407-E0A4-7E16-82B0F2E6F87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518748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cande3ee/VOILALab-Bea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16.png"/><Relationship Id="rId5" Type="http://schemas.openxmlformats.org/officeDocument/2006/relationships/image" Target="../media/image13.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cande3ee/VOILALab-Beam"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a:effectLst/>
      </p:bgPr>
    </p:bg>
    <p:spTree>
      <p:nvGrpSpPr>
        <p:cNvPr id="1" name=""/>
        <p:cNvGrpSpPr/>
        <p:nvPr/>
      </p:nvGrpSpPr>
      <p:grpSpPr>
        <a:xfrm>
          <a:off x="0" y="0"/>
          <a:ext cx="0" cy="0"/>
          <a:chOff x="0" y="0"/>
          <a:chExt cx="0" cy="0"/>
        </a:xfrm>
      </p:grpSpPr>
      <p:sp>
        <p:nvSpPr>
          <p:cNvPr id="7" name="Text 5"/>
          <p:cNvSpPr/>
          <p:nvPr/>
        </p:nvSpPr>
        <p:spPr>
          <a:xfrm>
            <a:off x="731520" y="3429000"/>
            <a:ext cx="10698480" cy="548640"/>
          </a:xfrm>
          <a:prstGeom prst="rect">
            <a:avLst/>
          </a:prstGeom>
          <a:noFill/>
          <a:ln/>
        </p:spPr>
        <p:txBody>
          <a:bodyPr wrap="square" rtlCol="0" anchor="ctr"/>
          <a:lstStyle/>
          <a:p>
            <a:pPr marL="0" indent="0" algn="ctr">
              <a:buNone/>
            </a:pPr>
            <a:r>
              <a:rPr lang="en-US" sz="2000" dirty="0">
                <a:solidFill>
                  <a:srgbClr val="CADCFC"/>
                </a:solidFill>
                <a:latin typeface="Calibri" pitchFamily="34" charset="0"/>
                <a:ea typeface="Calibri" pitchFamily="34" charset="-122"/>
                <a:cs typeface="Calibri" pitchFamily="34" charset="-120"/>
              </a:rPr>
              <a:t>User Guide &amp; Tutorial</a:t>
            </a:r>
            <a:endParaRPr lang="en-US" sz="2000" dirty="0"/>
          </a:p>
        </p:txBody>
      </p:sp>
      <p:sp>
        <p:nvSpPr>
          <p:cNvPr id="8" name="Shape 6"/>
          <p:cNvSpPr/>
          <p:nvPr/>
        </p:nvSpPr>
        <p:spPr>
          <a:xfrm>
            <a:off x="5257800" y="4160520"/>
            <a:ext cx="1645920" cy="0"/>
          </a:xfrm>
          <a:prstGeom prst="line">
            <a:avLst/>
          </a:prstGeom>
          <a:noFill/>
          <a:ln w="19050">
            <a:solidFill>
              <a:srgbClr val="3E6B99"/>
            </a:solidFill>
            <a:prstDash val="solid"/>
          </a:ln>
        </p:spPr>
        <p:txBody>
          <a:bodyPr/>
          <a:lstStyle/>
          <a:p>
            <a:endParaRPr lang="en-US"/>
          </a:p>
        </p:txBody>
      </p:sp>
      <p:sp>
        <p:nvSpPr>
          <p:cNvPr id="9" name="Text 7"/>
          <p:cNvSpPr/>
          <p:nvPr/>
        </p:nvSpPr>
        <p:spPr>
          <a:xfrm>
            <a:off x="1371600" y="4343400"/>
            <a:ext cx="9418320" cy="457200"/>
          </a:xfrm>
          <a:prstGeom prst="rect">
            <a:avLst/>
          </a:prstGeom>
          <a:noFill/>
          <a:ln/>
        </p:spPr>
        <p:txBody>
          <a:bodyPr wrap="square" rtlCol="0" anchor="ctr"/>
          <a:lstStyle/>
          <a:p>
            <a:pPr marL="0" indent="0" algn="ctr">
              <a:buNone/>
            </a:pPr>
            <a:r>
              <a:rPr lang="en-US" sz="1300" i="1" dirty="0">
                <a:solidFill>
                  <a:srgbClr val="9FB3C8"/>
                </a:solidFill>
                <a:latin typeface="Calibri" pitchFamily="34" charset="0"/>
                <a:ea typeface="Calibri" pitchFamily="34" charset="-122"/>
                <a:cs typeface="Calibri" pitchFamily="34" charset="-120"/>
              </a:rPr>
              <a:t>Live camera-based laser beam profiling — acquisition, measurement, and propagation analysis</a:t>
            </a:r>
            <a:endParaRPr lang="en-US" sz="1300" dirty="0"/>
          </a:p>
        </p:txBody>
      </p:sp>
      <p:sp>
        <p:nvSpPr>
          <p:cNvPr id="10" name="Text 8"/>
          <p:cNvSpPr/>
          <p:nvPr/>
        </p:nvSpPr>
        <p:spPr>
          <a:xfrm>
            <a:off x="731520" y="6035040"/>
            <a:ext cx="10698480" cy="365760"/>
          </a:xfrm>
          <a:prstGeom prst="rect">
            <a:avLst/>
          </a:prstGeom>
          <a:noFill/>
          <a:ln/>
        </p:spPr>
        <p:txBody>
          <a:bodyPr wrap="square" rtlCol="0" anchor="ctr"/>
          <a:lstStyle/>
          <a:p>
            <a:pPr marL="0" indent="0" algn="ctr">
              <a:buNone/>
            </a:pPr>
            <a:r>
              <a:rPr lang="en-US" sz="1200" dirty="0">
                <a:solidFill>
                  <a:srgbClr val="6D82A0"/>
                </a:solidFill>
                <a:latin typeface="Calibri" pitchFamily="34" charset="0"/>
                <a:ea typeface="Calibri" pitchFamily="34" charset="-122"/>
                <a:cs typeface="Calibri" pitchFamily="34" charset="-120"/>
              </a:rPr>
              <a:t>Version v4.7  •  VOILA Lab</a:t>
            </a:r>
            <a:endParaRPr lang="en-US" sz="1200" dirty="0"/>
          </a:p>
        </p:txBody>
      </p:sp>
      <p:sp>
        <p:nvSpPr>
          <p:cNvPr id="14" name="Rectangle 13">
            <a:extLst>
              <a:ext uri="{FF2B5EF4-FFF2-40B4-BE49-F238E27FC236}">
                <a16:creationId xmlns:a16="http://schemas.microsoft.com/office/drawing/2014/main" id="{1AE51A0D-FFDF-F4AC-CD22-4B51BBC311D4}"/>
              </a:ext>
            </a:extLst>
          </p:cNvPr>
          <p:cNvSpPr/>
          <p:nvPr/>
        </p:nvSpPr>
        <p:spPr>
          <a:xfrm>
            <a:off x="5166360" y="1261108"/>
            <a:ext cx="1863090" cy="154305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36A456F-EFE9-945B-03FE-6EF562BFE193}"/>
              </a:ext>
            </a:extLst>
          </p:cNvPr>
          <p:cNvPicPr>
            <a:picLocks noChangeAspect="1"/>
          </p:cNvPicPr>
          <p:nvPr/>
        </p:nvPicPr>
        <p:blipFill>
          <a:blip r:embed="rId3"/>
          <a:stretch>
            <a:fillRect/>
          </a:stretch>
        </p:blipFill>
        <p:spPr>
          <a:xfrm>
            <a:off x="4816729" y="795145"/>
            <a:ext cx="2528062" cy="25280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822960" y="1920240"/>
            <a:ext cx="2743200" cy="1828800"/>
          </a:xfrm>
          <a:prstGeom prst="rect">
            <a:avLst/>
          </a:prstGeom>
          <a:noFill/>
          <a:ln/>
        </p:spPr>
        <p:txBody>
          <a:bodyPr wrap="square" rtlCol="0" anchor="ctr"/>
          <a:lstStyle/>
          <a:p>
            <a:pPr marL="0" indent="0">
              <a:buNone/>
            </a:pPr>
            <a:r>
              <a:rPr lang="en-US" sz="9600" b="1" dirty="0">
                <a:solidFill>
                  <a:srgbClr val="1D3A63"/>
                </a:solidFill>
                <a:latin typeface="Cambria" pitchFamily="34" charset="0"/>
                <a:ea typeface="Cambria" pitchFamily="34" charset="-122"/>
                <a:cs typeface="Cambria" pitchFamily="34" charset="-120"/>
              </a:rPr>
              <a:t>01</a:t>
            </a:r>
            <a:endParaRPr lang="en-US" sz="9600" dirty="0"/>
          </a:p>
        </p:txBody>
      </p:sp>
      <p:sp>
        <p:nvSpPr>
          <p:cNvPr id="3" name="Shape 1"/>
          <p:cNvSpPr/>
          <p:nvPr/>
        </p:nvSpPr>
        <p:spPr>
          <a:xfrm>
            <a:off x="896112" y="3794760"/>
            <a:ext cx="502920" cy="502920"/>
          </a:xfrm>
          <a:prstGeom prst="ellipse">
            <a:avLst/>
          </a:prstGeom>
          <a:solidFill>
            <a:srgbClr val="E63946"/>
          </a:solidFill>
          <a:ln w="12700">
            <a:solidFill>
              <a:srgbClr val="E63946"/>
            </a:solidFill>
            <a:prstDash val="solid"/>
          </a:ln>
        </p:spPr>
        <p:txBody>
          <a:bodyPr/>
          <a:lstStyle/>
          <a:p>
            <a:endParaRPr lang="en-US"/>
          </a:p>
        </p:txBody>
      </p:sp>
      <p:sp>
        <p:nvSpPr>
          <p:cNvPr id="4" name="Shape 2"/>
          <p:cNvSpPr/>
          <p:nvPr/>
        </p:nvSpPr>
        <p:spPr>
          <a:xfrm>
            <a:off x="971550" y="4046220"/>
            <a:ext cx="352044" cy="0"/>
          </a:xfrm>
          <a:prstGeom prst="line">
            <a:avLst/>
          </a:prstGeom>
          <a:noFill/>
          <a:ln w="19050">
            <a:solidFill>
              <a:srgbClr val="FFFFFF"/>
            </a:solidFill>
            <a:prstDash val="solid"/>
          </a:ln>
        </p:spPr>
        <p:txBody>
          <a:bodyPr/>
          <a:lstStyle/>
          <a:p>
            <a:endParaRPr lang="en-US"/>
          </a:p>
        </p:txBody>
      </p:sp>
      <p:sp>
        <p:nvSpPr>
          <p:cNvPr id="5" name="Shape 3"/>
          <p:cNvSpPr/>
          <p:nvPr/>
        </p:nvSpPr>
        <p:spPr>
          <a:xfrm>
            <a:off x="1147572" y="3870198"/>
            <a:ext cx="0" cy="352044"/>
          </a:xfrm>
          <a:prstGeom prst="line">
            <a:avLst/>
          </a:prstGeom>
          <a:noFill/>
          <a:ln w="19050">
            <a:solidFill>
              <a:srgbClr val="FFFFFF"/>
            </a:solidFill>
            <a:prstDash val="solid"/>
          </a:ln>
        </p:spPr>
        <p:txBody>
          <a:bodyPr/>
          <a:lstStyle/>
          <a:p>
            <a:endParaRPr lang="en-US"/>
          </a:p>
        </p:txBody>
      </p:sp>
      <p:sp>
        <p:nvSpPr>
          <p:cNvPr id="6" name="Text 4"/>
          <p:cNvSpPr/>
          <p:nvPr/>
        </p:nvSpPr>
        <p:spPr>
          <a:xfrm>
            <a:off x="1600200" y="3246120"/>
            <a:ext cx="96012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Introduction</a:t>
            </a:r>
            <a:endParaRPr lang="en-US" sz="3400" dirty="0"/>
          </a:p>
        </p:txBody>
      </p:sp>
      <p:sp>
        <p:nvSpPr>
          <p:cNvPr id="7" name="Text 5"/>
          <p:cNvSpPr/>
          <p:nvPr/>
        </p:nvSpPr>
        <p:spPr>
          <a:xfrm>
            <a:off x="1627632" y="3977640"/>
            <a:ext cx="9144000" cy="548640"/>
          </a:xfrm>
          <a:prstGeom prst="rect">
            <a:avLst/>
          </a:prstGeom>
          <a:noFill/>
          <a:ln/>
        </p:spPr>
        <p:txBody>
          <a:bodyPr wrap="square" rtlCol="0" anchor="ctr"/>
          <a:lstStyle/>
          <a:p>
            <a:pPr marL="0" indent="0">
              <a:buNone/>
            </a:pPr>
            <a:r>
              <a:rPr lang="en-US" sz="1400" i="1" dirty="0">
                <a:solidFill>
                  <a:srgbClr val="9FB3C8"/>
                </a:solidFill>
                <a:latin typeface="Calibri" pitchFamily="34" charset="0"/>
                <a:ea typeface="Calibri" pitchFamily="34" charset="-122"/>
                <a:cs typeface="Calibri" pitchFamily="34" charset="-120"/>
              </a:rPr>
              <a:t>What this app does, and what to keep in mind before you start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What is VOILALab Beam?</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Live beam view</a:t>
            </a:r>
            <a:r>
              <a:rPr lang="en-US" sz="1500" dirty="0">
                <a:solidFill>
                  <a:srgbClr val="6B7789"/>
                </a:solidFill>
                <a:latin typeface="Calibri" pitchFamily="34" charset="0"/>
                <a:ea typeface="Calibri" pitchFamily="34" charset="-122"/>
                <a:cs typeface="Calibri" pitchFamily="34" charset="-120"/>
              </a:rPr>
              <a:t>  —  real-time camera image with X/Y intensity profiles</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Size &amp; position metrics</a:t>
            </a:r>
            <a:r>
              <a:rPr lang="en-US" sz="1500" dirty="0">
                <a:solidFill>
                  <a:srgbClr val="6B7789"/>
                </a:solidFill>
                <a:latin typeface="Calibri" pitchFamily="34" charset="0"/>
                <a:ea typeface="Calibri" pitchFamily="34" charset="-122"/>
                <a:cs typeface="Calibri" pitchFamily="34" charset="-120"/>
              </a:rPr>
              <a:t>  —  FWHM, 1/e², Gaussian fit, D4σ, centroid, peak</a:t>
            </a:r>
            <a:endParaRPr lang="en-US" sz="1500" dirty="0"/>
          </a:p>
        </p:txBody>
      </p:sp>
      <p:sp>
        <p:nvSpPr>
          <p:cNvPr id="12" name="Shape 10"/>
          <p:cNvSpPr/>
          <p:nvPr/>
        </p:nvSpPr>
        <p:spPr>
          <a:xfrm>
            <a:off x="548640" y="2980944"/>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118104"/>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022092"/>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2907792"/>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Pointing stability</a:t>
            </a:r>
            <a:r>
              <a:rPr lang="en-US" sz="1500" dirty="0">
                <a:solidFill>
                  <a:srgbClr val="6B7789"/>
                </a:solidFill>
                <a:latin typeface="Calibri" pitchFamily="34" charset="0"/>
                <a:ea typeface="Calibri" pitchFamily="34" charset="-122"/>
                <a:cs typeface="Calibri" pitchFamily="34" charset="-120"/>
              </a:rPr>
              <a:t>  —  tracks centroid drift over time</a:t>
            </a:r>
            <a:endParaRPr lang="en-US" sz="1500" dirty="0"/>
          </a:p>
        </p:txBody>
      </p:sp>
      <p:sp>
        <p:nvSpPr>
          <p:cNvPr id="16" name="Shape 14"/>
          <p:cNvSpPr/>
          <p:nvPr/>
        </p:nvSpPr>
        <p:spPr>
          <a:xfrm>
            <a:off x="548640" y="3566160"/>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703320"/>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607308"/>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493008"/>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Data output</a:t>
            </a:r>
            <a:r>
              <a:rPr lang="en-US" sz="1500" dirty="0">
                <a:solidFill>
                  <a:srgbClr val="6B7789"/>
                </a:solidFill>
                <a:latin typeface="Calibri" pitchFamily="34" charset="0"/>
                <a:ea typeface="Calibri" pitchFamily="34" charset="-122"/>
                <a:cs typeface="Calibri" pitchFamily="34" charset="-120"/>
              </a:rPr>
              <a:t>  —  CSV logging, TIFF / NumPy / JSON capture files</a:t>
            </a:r>
            <a:endParaRPr lang="en-US" sz="1500" dirty="0"/>
          </a:p>
        </p:txBody>
      </p:sp>
      <p:sp>
        <p:nvSpPr>
          <p:cNvPr id="20" name="Shape 18"/>
          <p:cNvSpPr/>
          <p:nvPr/>
        </p:nvSpPr>
        <p:spPr>
          <a:xfrm>
            <a:off x="548640" y="4151376"/>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288536"/>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192524"/>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078224"/>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Propagation analysis</a:t>
            </a:r>
            <a:r>
              <a:rPr lang="en-US" sz="1500" dirty="0">
                <a:solidFill>
                  <a:srgbClr val="6B7789"/>
                </a:solidFill>
                <a:latin typeface="Calibri" pitchFamily="34" charset="0"/>
                <a:ea typeface="Calibri" pitchFamily="34" charset="-122"/>
                <a:cs typeface="Calibri" pitchFamily="34" charset="-120"/>
              </a:rPr>
              <a:t>  —  multi-position beam-caustic and provisional M² fitting</a:t>
            </a:r>
            <a:endParaRPr lang="en-US" sz="150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5" name="Text 23"/>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Before You Start: Safety &amp; Measurement Scope</a:t>
            </a:r>
            <a:endParaRPr lang="en-US" sz="3200" dirty="0"/>
          </a:p>
        </p:txBody>
      </p:sp>
      <p:sp>
        <p:nvSpPr>
          <p:cNvPr id="4" name="Shape 2"/>
          <p:cNvSpPr/>
          <p:nvPr/>
        </p:nvSpPr>
        <p:spPr>
          <a:xfrm>
            <a:off x="548640" y="1783080"/>
            <a:ext cx="10607040" cy="3014472"/>
          </a:xfrm>
          <a:prstGeom prst="roundRect">
            <a:avLst>
              <a:gd name="adj" fmla="val 2427"/>
            </a:avLst>
          </a:prstGeom>
          <a:solidFill>
            <a:srgbClr val="10243E"/>
          </a:solidFill>
          <a:ln w="12700">
            <a:solidFill>
              <a:srgbClr val="10243E"/>
            </a:solidFill>
            <a:prstDash val="solid"/>
          </a:ln>
        </p:spPr>
        <p:txBody>
          <a:bodyPr/>
          <a:lstStyle/>
          <a:p>
            <a:endParaRPr lang="en-US"/>
          </a:p>
        </p:txBody>
      </p:sp>
      <p:sp>
        <p:nvSpPr>
          <p:cNvPr id="5" name="Shape 3"/>
          <p:cNvSpPr/>
          <p:nvPr/>
        </p:nvSpPr>
        <p:spPr>
          <a:xfrm>
            <a:off x="914400" y="2130552"/>
            <a:ext cx="274320" cy="274320"/>
          </a:xfrm>
          <a:prstGeom prst="ellipse">
            <a:avLst/>
          </a:prstGeom>
          <a:solidFill>
            <a:srgbClr val="E63946"/>
          </a:solidFill>
          <a:ln w="12700">
            <a:solidFill>
              <a:srgbClr val="E63946"/>
            </a:solidFill>
            <a:prstDash val="solid"/>
          </a:ln>
        </p:spPr>
        <p:txBody>
          <a:bodyPr/>
          <a:lstStyle/>
          <a:p>
            <a:endParaRPr lang="en-US"/>
          </a:p>
        </p:txBody>
      </p:sp>
      <p:sp>
        <p:nvSpPr>
          <p:cNvPr id="6" name="Shape 4"/>
          <p:cNvSpPr/>
          <p:nvPr/>
        </p:nvSpPr>
        <p:spPr>
          <a:xfrm>
            <a:off x="955548" y="2267712"/>
            <a:ext cx="192024" cy="0"/>
          </a:xfrm>
          <a:prstGeom prst="line">
            <a:avLst/>
          </a:prstGeom>
          <a:noFill/>
          <a:ln w="19050">
            <a:solidFill>
              <a:srgbClr val="FFFFFF"/>
            </a:solidFill>
            <a:prstDash val="solid"/>
          </a:ln>
        </p:spPr>
        <p:txBody>
          <a:bodyPr/>
          <a:lstStyle/>
          <a:p>
            <a:endParaRPr lang="en-US"/>
          </a:p>
        </p:txBody>
      </p:sp>
      <p:sp>
        <p:nvSpPr>
          <p:cNvPr id="7" name="Shape 5"/>
          <p:cNvSpPr/>
          <p:nvPr/>
        </p:nvSpPr>
        <p:spPr>
          <a:xfrm>
            <a:off x="1051560" y="2171700"/>
            <a:ext cx="0" cy="192024"/>
          </a:xfrm>
          <a:prstGeom prst="line">
            <a:avLst/>
          </a:prstGeom>
          <a:noFill/>
          <a:ln w="19050">
            <a:solidFill>
              <a:srgbClr val="FFFFFF"/>
            </a:solidFill>
            <a:prstDash val="solid"/>
          </a:ln>
        </p:spPr>
        <p:txBody>
          <a:bodyPr/>
          <a:lstStyle/>
          <a:p>
            <a:endParaRPr lang="en-US"/>
          </a:p>
        </p:txBody>
      </p:sp>
      <p:sp>
        <p:nvSpPr>
          <p:cNvPr id="8" name="Text 6"/>
          <p:cNvSpPr/>
          <p:nvPr/>
        </p:nvSpPr>
        <p:spPr>
          <a:xfrm>
            <a:off x="1389888" y="2057400"/>
            <a:ext cx="9400032" cy="559308"/>
          </a:xfrm>
          <a:prstGeom prst="rect">
            <a:avLst/>
          </a:prstGeom>
          <a:noFill/>
          <a:ln/>
        </p:spPr>
        <p:txBody>
          <a:bodyPr wrap="square"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Laser safety first</a:t>
            </a:r>
            <a:r>
              <a:rPr lang="en-US" sz="1450" dirty="0">
                <a:solidFill>
                  <a:srgbClr val="CADCFC"/>
                </a:solidFill>
                <a:latin typeface="Calibri" pitchFamily="34" charset="0"/>
                <a:ea typeface="Calibri" pitchFamily="34" charset="-122"/>
                <a:cs typeface="Calibri" pitchFamily="34" charset="-120"/>
              </a:rPr>
              <a:t>  —  this software is not a substitute for your institution's laser-safety controls and attenuation practices</a:t>
            </a:r>
            <a:endParaRPr lang="en-US" sz="1450" dirty="0"/>
          </a:p>
        </p:txBody>
      </p:sp>
      <p:sp>
        <p:nvSpPr>
          <p:cNvPr id="9" name="Shape 7"/>
          <p:cNvSpPr/>
          <p:nvPr/>
        </p:nvSpPr>
        <p:spPr>
          <a:xfrm>
            <a:off x="914400" y="2817876"/>
            <a:ext cx="274320" cy="274320"/>
          </a:xfrm>
          <a:prstGeom prst="ellipse">
            <a:avLst/>
          </a:prstGeom>
          <a:solidFill>
            <a:srgbClr val="E63946"/>
          </a:solidFill>
          <a:ln w="12700">
            <a:solidFill>
              <a:srgbClr val="E63946"/>
            </a:solidFill>
            <a:prstDash val="solid"/>
          </a:ln>
        </p:spPr>
        <p:txBody>
          <a:bodyPr/>
          <a:lstStyle/>
          <a:p>
            <a:endParaRPr lang="en-US"/>
          </a:p>
        </p:txBody>
      </p:sp>
      <p:sp>
        <p:nvSpPr>
          <p:cNvPr id="10" name="Shape 8"/>
          <p:cNvSpPr/>
          <p:nvPr/>
        </p:nvSpPr>
        <p:spPr>
          <a:xfrm>
            <a:off x="955548" y="2955036"/>
            <a:ext cx="192024" cy="0"/>
          </a:xfrm>
          <a:prstGeom prst="line">
            <a:avLst/>
          </a:prstGeom>
          <a:noFill/>
          <a:ln w="19050">
            <a:solidFill>
              <a:srgbClr val="FFFFFF"/>
            </a:solidFill>
            <a:prstDash val="solid"/>
          </a:ln>
        </p:spPr>
        <p:txBody>
          <a:bodyPr/>
          <a:lstStyle/>
          <a:p>
            <a:endParaRPr lang="en-US"/>
          </a:p>
        </p:txBody>
      </p:sp>
      <p:sp>
        <p:nvSpPr>
          <p:cNvPr id="11" name="Shape 9"/>
          <p:cNvSpPr/>
          <p:nvPr/>
        </p:nvSpPr>
        <p:spPr>
          <a:xfrm>
            <a:off x="1051560" y="2859024"/>
            <a:ext cx="0" cy="192024"/>
          </a:xfrm>
          <a:prstGeom prst="line">
            <a:avLst/>
          </a:prstGeom>
          <a:noFill/>
          <a:ln w="19050">
            <a:solidFill>
              <a:srgbClr val="FFFFFF"/>
            </a:solidFill>
            <a:prstDash val="solid"/>
          </a:ln>
        </p:spPr>
        <p:txBody>
          <a:bodyPr/>
          <a:lstStyle/>
          <a:p>
            <a:endParaRPr lang="en-US"/>
          </a:p>
        </p:txBody>
      </p:sp>
      <p:sp>
        <p:nvSpPr>
          <p:cNvPr id="12" name="Text 10"/>
          <p:cNvSpPr/>
          <p:nvPr/>
        </p:nvSpPr>
        <p:spPr>
          <a:xfrm>
            <a:off x="1389888" y="2744724"/>
            <a:ext cx="9400032" cy="1045464"/>
          </a:xfrm>
          <a:prstGeom prst="rect">
            <a:avLst/>
          </a:prstGeom>
          <a:noFill/>
          <a:ln/>
        </p:spPr>
        <p:txBody>
          <a:bodyPr wrap="square"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Not automatically ISO 11146-compliant</a:t>
            </a:r>
            <a:r>
              <a:rPr lang="en-US" sz="1450" dirty="0">
                <a:solidFill>
                  <a:srgbClr val="CADCFC"/>
                </a:solidFill>
                <a:latin typeface="Calibri" pitchFamily="34" charset="0"/>
                <a:ea typeface="Calibri" pitchFamily="34" charset="-122"/>
                <a:cs typeface="Calibri" pitchFamily="34" charset="-120"/>
              </a:rPr>
              <a:t>  —  the app can perform ISO-style D4σ and caustic math, but compliance also needs calibration, correct background handling, unsaturated images, known pixel pitch/wavelength, and points on both sides of the waist</a:t>
            </a:r>
            <a:endParaRPr lang="en-US" sz="1450" dirty="0"/>
          </a:p>
        </p:txBody>
      </p:sp>
      <p:sp>
        <p:nvSpPr>
          <p:cNvPr id="13" name="Shape 11"/>
          <p:cNvSpPr/>
          <p:nvPr/>
        </p:nvSpPr>
        <p:spPr>
          <a:xfrm>
            <a:off x="914400" y="3991356"/>
            <a:ext cx="274320" cy="274320"/>
          </a:xfrm>
          <a:prstGeom prst="ellipse">
            <a:avLst/>
          </a:prstGeom>
          <a:solidFill>
            <a:srgbClr val="E63946"/>
          </a:solidFill>
          <a:ln w="12700">
            <a:solidFill>
              <a:srgbClr val="E63946"/>
            </a:solidFill>
            <a:prstDash val="solid"/>
          </a:ln>
        </p:spPr>
        <p:txBody>
          <a:bodyPr/>
          <a:lstStyle/>
          <a:p>
            <a:endParaRPr lang="en-US"/>
          </a:p>
        </p:txBody>
      </p:sp>
      <p:sp>
        <p:nvSpPr>
          <p:cNvPr id="14" name="Shape 12"/>
          <p:cNvSpPr/>
          <p:nvPr/>
        </p:nvSpPr>
        <p:spPr>
          <a:xfrm>
            <a:off x="955548" y="4128516"/>
            <a:ext cx="192024" cy="0"/>
          </a:xfrm>
          <a:prstGeom prst="line">
            <a:avLst/>
          </a:prstGeom>
          <a:noFill/>
          <a:ln w="19050">
            <a:solidFill>
              <a:srgbClr val="FFFFFF"/>
            </a:solidFill>
            <a:prstDash val="solid"/>
          </a:ln>
        </p:spPr>
        <p:txBody>
          <a:bodyPr/>
          <a:lstStyle/>
          <a:p>
            <a:endParaRPr lang="en-US"/>
          </a:p>
        </p:txBody>
      </p:sp>
      <p:sp>
        <p:nvSpPr>
          <p:cNvPr id="15" name="Shape 13"/>
          <p:cNvSpPr/>
          <p:nvPr/>
        </p:nvSpPr>
        <p:spPr>
          <a:xfrm>
            <a:off x="1051560" y="4032504"/>
            <a:ext cx="0" cy="192024"/>
          </a:xfrm>
          <a:prstGeom prst="line">
            <a:avLst/>
          </a:prstGeom>
          <a:noFill/>
          <a:ln w="19050">
            <a:solidFill>
              <a:srgbClr val="FFFFFF"/>
            </a:solidFill>
            <a:prstDash val="solid"/>
          </a:ln>
        </p:spPr>
        <p:txBody>
          <a:bodyPr/>
          <a:lstStyle/>
          <a:p>
            <a:endParaRPr lang="en-US"/>
          </a:p>
        </p:txBody>
      </p:sp>
      <p:sp>
        <p:nvSpPr>
          <p:cNvPr id="16" name="Text 14"/>
          <p:cNvSpPr/>
          <p:nvPr/>
        </p:nvSpPr>
        <p:spPr>
          <a:xfrm>
            <a:off x="1389888" y="3918204"/>
            <a:ext cx="9400032" cy="559308"/>
          </a:xfrm>
          <a:prstGeom prst="rect">
            <a:avLst/>
          </a:prstGeom>
          <a:noFill/>
          <a:ln/>
        </p:spPr>
        <p:txBody>
          <a:bodyPr wrap="square"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Read the warnings</a:t>
            </a:r>
            <a:r>
              <a:rPr lang="en-US" sz="1450" dirty="0">
                <a:solidFill>
                  <a:srgbClr val="CADCFC"/>
                </a:solidFill>
                <a:latin typeface="Calibri" pitchFamily="34" charset="0"/>
                <a:ea typeface="Calibri" pitchFamily="34" charset="-122"/>
                <a:cs typeface="Calibri" pitchFamily="34" charset="-120"/>
              </a:rPr>
              <a:t>  —  truncated, saturated, or low-SNR results are flagged — don't override them without understanding why</a:t>
            </a:r>
            <a:endParaRPr lang="en-US" sz="1450" dirty="0"/>
          </a:p>
        </p:txBody>
      </p:sp>
      <p:sp>
        <p:nvSpPr>
          <p:cNvPr id="17" name="Text 1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18" name="Text 16"/>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Main Window Overview</a:t>
            </a:r>
            <a:endParaRPr lang="en-US" sz="3200" dirty="0"/>
          </a:p>
        </p:txBody>
      </p:sp>
      <p:sp>
        <p:nvSpPr>
          <p:cNvPr id="4" name="Shape 2"/>
          <p:cNvSpPr/>
          <p:nvPr/>
        </p:nvSpPr>
        <p:spPr>
          <a:xfrm>
            <a:off x="7171664" y="2415308"/>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7212812" y="2552468"/>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7308824" y="2456456"/>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7647152" y="2342156"/>
            <a:ext cx="4057168"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Movable, resizable subwindows</a:t>
            </a:r>
            <a:r>
              <a:rPr lang="en-US" sz="1500" dirty="0">
                <a:solidFill>
                  <a:srgbClr val="6B7789"/>
                </a:solidFill>
                <a:latin typeface="Calibri" pitchFamily="34" charset="0"/>
                <a:ea typeface="Calibri" pitchFamily="34" charset="-122"/>
                <a:cs typeface="Calibri" pitchFamily="34" charset="-120"/>
              </a:rPr>
              <a:t>  —  arrange panels however suits your workflow</a:t>
            </a:r>
            <a:endParaRPr lang="en-US" sz="1500" dirty="0"/>
          </a:p>
        </p:txBody>
      </p:sp>
      <p:sp>
        <p:nvSpPr>
          <p:cNvPr id="8" name="Shape 6"/>
          <p:cNvSpPr/>
          <p:nvPr/>
        </p:nvSpPr>
        <p:spPr>
          <a:xfrm>
            <a:off x="7171664" y="3021097"/>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7212812" y="3158257"/>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7308824" y="3062245"/>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7647152" y="2947945"/>
            <a:ext cx="4411498"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Show / hide, don't destroy</a:t>
            </a:r>
            <a:r>
              <a:rPr lang="en-US" sz="1500" dirty="0">
                <a:solidFill>
                  <a:srgbClr val="6B7789"/>
                </a:solidFill>
                <a:latin typeface="Calibri" pitchFamily="34" charset="0"/>
                <a:ea typeface="Calibri" pitchFamily="34" charset="-122"/>
                <a:cs typeface="Calibri" pitchFamily="34" charset="-120"/>
              </a:rPr>
              <a:t>  —  closing a panel just hides it — reopen anytime from the toolbar or View menu</a:t>
            </a:r>
            <a:endParaRPr lang="en-US" sz="1500" dirty="0"/>
          </a:p>
        </p:txBody>
      </p:sp>
      <p:sp>
        <p:nvSpPr>
          <p:cNvPr id="12" name="Shape 10"/>
          <p:cNvSpPr/>
          <p:nvPr/>
        </p:nvSpPr>
        <p:spPr>
          <a:xfrm>
            <a:off x="7171664" y="4377690"/>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7212812" y="4514850"/>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7308824" y="4418838"/>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7647152" y="4304538"/>
            <a:ext cx="4411498"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Seven panels total</a:t>
            </a:r>
            <a:r>
              <a:rPr lang="en-US" sz="1500" dirty="0">
                <a:solidFill>
                  <a:srgbClr val="6B7789"/>
                </a:solidFill>
                <a:latin typeface="Calibri" pitchFamily="34" charset="0"/>
                <a:ea typeface="Calibri" pitchFamily="34" charset="-122"/>
                <a:cs typeface="Calibri" pitchFamily="34" charset="-120"/>
              </a:rPr>
              <a:t>  —  Camera, X/Y Profile, Controls, Calculations, Advanced Settings, Beam Stability, Propagation / M²</a:t>
            </a:r>
            <a:endParaRPr lang="en-US" sz="1500" dirty="0"/>
          </a:p>
        </p:txBody>
      </p:sp>
      <p:sp>
        <p:nvSpPr>
          <p:cNvPr id="16" name="Shape 14"/>
          <p:cNvSpPr/>
          <p:nvPr/>
        </p:nvSpPr>
        <p:spPr>
          <a:xfrm>
            <a:off x="7171664" y="3726328"/>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7212812" y="3863488"/>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7308824" y="3767476"/>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7647152" y="3653176"/>
            <a:ext cx="4411498"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Two themes</a:t>
            </a:r>
            <a:r>
              <a:rPr lang="en-US" sz="1500" dirty="0">
                <a:solidFill>
                  <a:srgbClr val="6B7789"/>
                </a:solidFill>
                <a:latin typeface="Calibri" pitchFamily="34" charset="0"/>
                <a:ea typeface="Calibri" pitchFamily="34" charset="-122"/>
                <a:cs typeface="Calibri" pitchFamily="34" charset="-120"/>
              </a:rPr>
              <a:t>  —  light and dark, switchable from the View menu</a:t>
            </a:r>
            <a:endParaRPr lang="en-US" sz="1500" dirty="0"/>
          </a:p>
        </p:txBody>
      </p:sp>
      <p:sp>
        <p:nvSpPr>
          <p:cNvPr id="27"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8" name="Text 26"/>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4</a:t>
            </a:r>
            <a:endParaRPr lang="en-US" sz="900" dirty="0"/>
          </a:p>
        </p:txBody>
      </p:sp>
      <p:pic>
        <p:nvPicPr>
          <p:cNvPr id="29" name="Picture 28">
            <a:extLst>
              <a:ext uri="{FF2B5EF4-FFF2-40B4-BE49-F238E27FC236}">
                <a16:creationId xmlns:a16="http://schemas.microsoft.com/office/drawing/2014/main" id="{DC54F3A3-A516-C46F-6026-C2E486CA833F}"/>
              </a:ext>
            </a:extLst>
          </p:cNvPr>
          <p:cNvPicPr>
            <a:picLocks noChangeAspect="1"/>
          </p:cNvPicPr>
          <p:nvPr/>
        </p:nvPicPr>
        <p:blipFill>
          <a:blip r:embed="rId3"/>
          <a:srcRect r="8579"/>
          <a:stretch>
            <a:fillRect/>
          </a:stretch>
        </p:blipFill>
        <p:spPr>
          <a:xfrm>
            <a:off x="113485" y="1497331"/>
            <a:ext cx="6955309" cy="4514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822960" y="1920240"/>
            <a:ext cx="2743200" cy="1828800"/>
          </a:xfrm>
          <a:prstGeom prst="rect">
            <a:avLst/>
          </a:prstGeom>
          <a:noFill/>
          <a:ln/>
        </p:spPr>
        <p:txBody>
          <a:bodyPr wrap="square" rtlCol="0" anchor="ctr"/>
          <a:lstStyle/>
          <a:p>
            <a:pPr marL="0" indent="0">
              <a:buNone/>
            </a:pPr>
            <a:r>
              <a:rPr lang="en-US" sz="9600" b="1" dirty="0">
                <a:solidFill>
                  <a:srgbClr val="1D3A63"/>
                </a:solidFill>
                <a:latin typeface="Cambria" pitchFamily="34" charset="0"/>
                <a:ea typeface="Cambria" pitchFamily="34" charset="-122"/>
                <a:cs typeface="Cambria" pitchFamily="34" charset="-120"/>
              </a:rPr>
              <a:t>02</a:t>
            </a:r>
            <a:endParaRPr lang="en-US" sz="9600" dirty="0"/>
          </a:p>
        </p:txBody>
      </p:sp>
      <p:sp>
        <p:nvSpPr>
          <p:cNvPr id="3" name="Shape 1"/>
          <p:cNvSpPr/>
          <p:nvPr/>
        </p:nvSpPr>
        <p:spPr>
          <a:xfrm>
            <a:off x="896112" y="3794760"/>
            <a:ext cx="502920" cy="502920"/>
          </a:xfrm>
          <a:prstGeom prst="ellipse">
            <a:avLst/>
          </a:prstGeom>
          <a:solidFill>
            <a:srgbClr val="E63946"/>
          </a:solidFill>
          <a:ln w="12700">
            <a:solidFill>
              <a:srgbClr val="E63946"/>
            </a:solidFill>
            <a:prstDash val="solid"/>
          </a:ln>
        </p:spPr>
        <p:txBody>
          <a:bodyPr/>
          <a:lstStyle/>
          <a:p>
            <a:endParaRPr lang="en-US"/>
          </a:p>
        </p:txBody>
      </p:sp>
      <p:sp>
        <p:nvSpPr>
          <p:cNvPr id="4" name="Shape 2"/>
          <p:cNvSpPr/>
          <p:nvPr/>
        </p:nvSpPr>
        <p:spPr>
          <a:xfrm>
            <a:off x="971550" y="4046220"/>
            <a:ext cx="352044" cy="0"/>
          </a:xfrm>
          <a:prstGeom prst="line">
            <a:avLst/>
          </a:prstGeom>
          <a:noFill/>
          <a:ln w="19050">
            <a:solidFill>
              <a:srgbClr val="FFFFFF"/>
            </a:solidFill>
            <a:prstDash val="solid"/>
          </a:ln>
        </p:spPr>
        <p:txBody>
          <a:bodyPr/>
          <a:lstStyle/>
          <a:p>
            <a:endParaRPr lang="en-US"/>
          </a:p>
        </p:txBody>
      </p:sp>
      <p:sp>
        <p:nvSpPr>
          <p:cNvPr id="5" name="Shape 3"/>
          <p:cNvSpPr/>
          <p:nvPr/>
        </p:nvSpPr>
        <p:spPr>
          <a:xfrm>
            <a:off x="1147572" y="3870198"/>
            <a:ext cx="0" cy="352044"/>
          </a:xfrm>
          <a:prstGeom prst="line">
            <a:avLst/>
          </a:prstGeom>
          <a:noFill/>
          <a:ln w="19050">
            <a:solidFill>
              <a:srgbClr val="FFFFFF"/>
            </a:solidFill>
            <a:prstDash val="solid"/>
          </a:ln>
        </p:spPr>
        <p:txBody>
          <a:bodyPr/>
          <a:lstStyle/>
          <a:p>
            <a:endParaRPr lang="en-US"/>
          </a:p>
        </p:txBody>
      </p:sp>
      <p:sp>
        <p:nvSpPr>
          <p:cNvPr id="6" name="Text 4"/>
          <p:cNvSpPr/>
          <p:nvPr/>
        </p:nvSpPr>
        <p:spPr>
          <a:xfrm>
            <a:off x="1600200" y="3246120"/>
            <a:ext cx="96012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Menu Bar &amp; Toolbar</a:t>
            </a:r>
            <a:endParaRPr lang="en-US" sz="3400" dirty="0"/>
          </a:p>
        </p:txBody>
      </p:sp>
      <p:sp>
        <p:nvSpPr>
          <p:cNvPr id="7" name="Text 5"/>
          <p:cNvSpPr/>
          <p:nvPr/>
        </p:nvSpPr>
        <p:spPr>
          <a:xfrm>
            <a:off x="1627632" y="3977640"/>
            <a:ext cx="9144000" cy="548640"/>
          </a:xfrm>
          <a:prstGeom prst="rect">
            <a:avLst/>
          </a:prstGeom>
          <a:noFill/>
          <a:ln/>
        </p:spPr>
        <p:txBody>
          <a:bodyPr wrap="square" rtlCol="0" anchor="ctr"/>
          <a:lstStyle/>
          <a:p>
            <a:pPr marL="0" indent="0">
              <a:buNone/>
            </a:pPr>
            <a:r>
              <a:rPr lang="en-US" sz="1400" i="1" dirty="0">
                <a:solidFill>
                  <a:srgbClr val="9FB3C8"/>
                </a:solidFill>
                <a:latin typeface="Calibri" pitchFamily="34" charset="0"/>
                <a:ea typeface="Calibri" pitchFamily="34" charset="-122"/>
                <a:cs typeface="Calibri" pitchFamily="34" charset="-120"/>
              </a:rPr>
              <a:t>Where every panel and action lives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MENU BAR &amp; TOOLBAR</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Menu Bar at a Glance</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File</a:t>
            </a:r>
            <a:r>
              <a:rPr lang="en-US" sz="1500" dirty="0">
                <a:solidFill>
                  <a:srgbClr val="6B7789"/>
                </a:solidFill>
                <a:latin typeface="Calibri" pitchFamily="34" charset="0"/>
                <a:ea typeface="Calibri" pitchFamily="34" charset="-122"/>
                <a:cs typeface="Calibri" pitchFamily="34" charset="-120"/>
              </a:rPr>
              <a:t>  —  capture, logging, presets, exit</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View</a:t>
            </a:r>
            <a:r>
              <a:rPr lang="en-US" sz="1500" dirty="0">
                <a:solidFill>
                  <a:srgbClr val="6B7789"/>
                </a:solidFill>
                <a:latin typeface="Calibri" pitchFamily="34" charset="0"/>
                <a:ea typeface="Calibri" pitchFamily="34" charset="-122"/>
                <a:cs typeface="Calibri" pitchFamily="34" charset="-120"/>
              </a:rPr>
              <a:t>  —  show/hide any panel, switch light/dark theme</a:t>
            </a:r>
            <a:endParaRPr lang="en-US" sz="1500" dirty="0"/>
          </a:p>
        </p:txBody>
      </p:sp>
      <p:sp>
        <p:nvSpPr>
          <p:cNvPr id="12" name="Shape 10"/>
          <p:cNvSpPr/>
          <p:nvPr/>
        </p:nvSpPr>
        <p:spPr>
          <a:xfrm>
            <a:off x="548640" y="3099816"/>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236976"/>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140964"/>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7" y="3026664"/>
            <a:ext cx="6955101"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Tools</a:t>
            </a:r>
            <a:r>
              <a:rPr lang="en-US" sz="1500" dirty="0">
                <a:solidFill>
                  <a:srgbClr val="6B7789"/>
                </a:solidFill>
                <a:latin typeface="Calibri" pitchFamily="34" charset="0"/>
                <a:ea typeface="Calibri" pitchFamily="34" charset="-122"/>
                <a:cs typeface="Calibri" pitchFamily="34" charset="-120"/>
              </a:rPr>
              <a:t>  —  open Propagation / M² Analysis (Also accessible via Toolbar)</a:t>
            </a:r>
            <a:endParaRPr lang="en-US" sz="1500" dirty="0"/>
          </a:p>
        </p:txBody>
      </p:sp>
      <p:sp>
        <p:nvSpPr>
          <p:cNvPr id="16" name="Shape 14"/>
          <p:cNvSpPr/>
          <p:nvPr/>
        </p:nvSpPr>
        <p:spPr>
          <a:xfrm>
            <a:off x="548640" y="3685032"/>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822192"/>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726180"/>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611880"/>
            <a:ext cx="546811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Help</a:t>
            </a:r>
            <a:r>
              <a:rPr lang="en-US" sz="1500" dirty="0">
                <a:solidFill>
                  <a:srgbClr val="6B7789"/>
                </a:solidFill>
                <a:latin typeface="Calibri" pitchFamily="34" charset="0"/>
                <a:ea typeface="Calibri" pitchFamily="34" charset="-122"/>
                <a:cs typeface="Calibri" pitchFamily="34" charset="-120"/>
              </a:rPr>
              <a:t>  —  About — application info</a:t>
            </a:r>
            <a:endParaRPr lang="en-US" sz="1500" dirty="0"/>
          </a:p>
        </p:txBody>
      </p:sp>
      <p:sp>
        <p:nvSpPr>
          <p:cNvPr id="26" name="Text 2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7" name="Text 2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6</a:t>
            </a:r>
            <a:endParaRPr lang="en-US" sz="900" dirty="0"/>
          </a:p>
        </p:txBody>
      </p:sp>
      <p:pic>
        <p:nvPicPr>
          <p:cNvPr id="29" name="Picture 28">
            <a:extLst>
              <a:ext uri="{FF2B5EF4-FFF2-40B4-BE49-F238E27FC236}">
                <a16:creationId xmlns:a16="http://schemas.microsoft.com/office/drawing/2014/main" id="{8368E4D9-06F5-EB37-8F6C-F2A349462779}"/>
              </a:ext>
            </a:extLst>
          </p:cNvPr>
          <p:cNvPicPr>
            <a:picLocks noChangeAspect="1"/>
          </p:cNvPicPr>
          <p:nvPr/>
        </p:nvPicPr>
        <p:blipFill>
          <a:blip r:embed="rId3"/>
          <a:srcRect r="83072" b="94544"/>
          <a:stretch>
            <a:fillRect/>
          </a:stretch>
        </p:blipFill>
        <p:spPr>
          <a:xfrm>
            <a:off x="5801178" y="914400"/>
            <a:ext cx="3442313" cy="658368"/>
          </a:xfrm>
          <a:prstGeom prst="rect">
            <a:avLst/>
          </a:prstGeom>
        </p:spPr>
      </p:pic>
      <p:pic>
        <p:nvPicPr>
          <p:cNvPr id="30" name="Picture 29">
            <a:extLst>
              <a:ext uri="{FF2B5EF4-FFF2-40B4-BE49-F238E27FC236}">
                <a16:creationId xmlns:a16="http://schemas.microsoft.com/office/drawing/2014/main" id="{20F9E2BD-4039-2181-B04D-34F8432F657E}"/>
              </a:ext>
            </a:extLst>
          </p:cNvPr>
          <p:cNvPicPr>
            <a:picLocks noChangeAspect="1"/>
          </p:cNvPicPr>
          <p:nvPr/>
        </p:nvPicPr>
        <p:blipFill>
          <a:blip r:embed="rId4"/>
          <a:stretch>
            <a:fillRect/>
          </a:stretch>
        </p:blipFill>
        <p:spPr>
          <a:xfrm>
            <a:off x="589788" y="4205859"/>
            <a:ext cx="1661073" cy="1516380"/>
          </a:xfrm>
          <a:prstGeom prst="rect">
            <a:avLst/>
          </a:prstGeom>
        </p:spPr>
      </p:pic>
      <p:pic>
        <p:nvPicPr>
          <p:cNvPr id="31" name="Picture 30">
            <a:extLst>
              <a:ext uri="{FF2B5EF4-FFF2-40B4-BE49-F238E27FC236}">
                <a16:creationId xmlns:a16="http://schemas.microsoft.com/office/drawing/2014/main" id="{80ECA0BE-43AF-A160-1569-B7B5E35947BE}"/>
              </a:ext>
            </a:extLst>
          </p:cNvPr>
          <p:cNvPicPr>
            <a:picLocks noChangeAspect="1"/>
          </p:cNvPicPr>
          <p:nvPr/>
        </p:nvPicPr>
        <p:blipFill>
          <a:blip r:embed="rId5"/>
          <a:stretch>
            <a:fillRect/>
          </a:stretch>
        </p:blipFill>
        <p:spPr>
          <a:xfrm>
            <a:off x="2250861" y="4197096"/>
            <a:ext cx="1736313" cy="2037274"/>
          </a:xfrm>
          <a:prstGeom prst="rect">
            <a:avLst/>
          </a:prstGeom>
        </p:spPr>
      </p:pic>
      <p:pic>
        <p:nvPicPr>
          <p:cNvPr id="32" name="Picture 31">
            <a:extLst>
              <a:ext uri="{FF2B5EF4-FFF2-40B4-BE49-F238E27FC236}">
                <a16:creationId xmlns:a16="http://schemas.microsoft.com/office/drawing/2014/main" id="{5F6A38F5-4637-8014-D192-6787D06EB781}"/>
              </a:ext>
            </a:extLst>
          </p:cNvPr>
          <p:cNvPicPr>
            <a:picLocks noChangeAspect="1"/>
          </p:cNvPicPr>
          <p:nvPr/>
        </p:nvPicPr>
        <p:blipFill>
          <a:blip r:embed="rId6"/>
          <a:stretch>
            <a:fillRect/>
          </a:stretch>
        </p:blipFill>
        <p:spPr>
          <a:xfrm>
            <a:off x="3987174" y="4205859"/>
            <a:ext cx="2141454" cy="706101"/>
          </a:xfrm>
          <a:prstGeom prst="rect">
            <a:avLst/>
          </a:prstGeom>
        </p:spPr>
      </p:pic>
      <p:pic>
        <p:nvPicPr>
          <p:cNvPr id="33" name="Picture 32">
            <a:extLst>
              <a:ext uri="{FF2B5EF4-FFF2-40B4-BE49-F238E27FC236}">
                <a16:creationId xmlns:a16="http://schemas.microsoft.com/office/drawing/2014/main" id="{FA0999F9-8D44-189F-B548-D3AF31AFC4C1}"/>
              </a:ext>
            </a:extLst>
          </p:cNvPr>
          <p:cNvPicPr>
            <a:picLocks noChangeAspect="1"/>
          </p:cNvPicPr>
          <p:nvPr/>
        </p:nvPicPr>
        <p:blipFill>
          <a:blip r:embed="rId7"/>
          <a:stretch>
            <a:fillRect/>
          </a:stretch>
        </p:blipFill>
        <p:spPr>
          <a:xfrm>
            <a:off x="6128628" y="4208752"/>
            <a:ext cx="2037274" cy="7003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MENU BAR &amp; TOOLBAR</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File Menu</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Capture Image (Ctrl+S)</a:t>
            </a:r>
            <a:r>
              <a:rPr lang="en-US" sz="1500" dirty="0">
                <a:solidFill>
                  <a:srgbClr val="6B7789"/>
                </a:solidFill>
                <a:latin typeface="Calibri" pitchFamily="34" charset="0"/>
                <a:ea typeface="Calibri" pitchFamily="34" charset="-122"/>
                <a:cs typeface="Calibri" pitchFamily="34" charset="-120"/>
              </a:rPr>
              <a:t>  —  saves the latest displayed frame + measurement metadata</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Start / Stop Logging</a:t>
            </a:r>
            <a:r>
              <a:rPr lang="en-US" sz="1500" dirty="0">
                <a:solidFill>
                  <a:srgbClr val="6B7789"/>
                </a:solidFill>
                <a:latin typeface="Calibri" pitchFamily="34" charset="0"/>
                <a:ea typeface="Calibri" pitchFamily="34" charset="-122"/>
                <a:cs typeface="Calibri" pitchFamily="34" charset="-120"/>
              </a:rPr>
              <a:t>  —  begins or ends CSV measurement recording</a:t>
            </a:r>
            <a:endParaRPr lang="en-US" sz="1500" dirty="0"/>
          </a:p>
        </p:txBody>
      </p:sp>
      <p:sp>
        <p:nvSpPr>
          <p:cNvPr id="12" name="Shape 10"/>
          <p:cNvSpPr/>
          <p:nvPr/>
        </p:nvSpPr>
        <p:spPr>
          <a:xfrm>
            <a:off x="548640" y="2980944"/>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118104"/>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022092"/>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2907792"/>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Save Preset As…</a:t>
            </a:r>
            <a:r>
              <a:rPr lang="en-US" sz="1500" dirty="0">
                <a:solidFill>
                  <a:srgbClr val="6B7789"/>
                </a:solidFill>
                <a:latin typeface="Calibri" pitchFamily="34" charset="0"/>
                <a:ea typeface="Calibri" pitchFamily="34" charset="-122"/>
                <a:cs typeface="Calibri" pitchFamily="34" charset="-120"/>
              </a:rPr>
              <a:t>  —  stores current settings under a chosen name</a:t>
            </a:r>
            <a:endParaRPr lang="en-US" sz="1500" dirty="0"/>
          </a:p>
        </p:txBody>
      </p:sp>
      <p:sp>
        <p:nvSpPr>
          <p:cNvPr id="16" name="Shape 14"/>
          <p:cNvSpPr/>
          <p:nvPr/>
        </p:nvSpPr>
        <p:spPr>
          <a:xfrm>
            <a:off x="548640" y="3566160"/>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703320"/>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607308"/>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493008"/>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Load Preset</a:t>
            </a:r>
            <a:r>
              <a:rPr lang="en-US" sz="1500" dirty="0">
                <a:solidFill>
                  <a:srgbClr val="6B7789"/>
                </a:solidFill>
                <a:latin typeface="Calibri" pitchFamily="34" charset="0"/>
                <a:ea typeface="Calibri" pitchFamily="34" charset="-122"/>
                <a:cs typeface="Calibri" pitchFamily="34" charset="-120"/>
              </a:rPr>
              <a:t>  —  applies a previously saved preset</a:t>
            </a:r>
            <a:endParaRPr lang="en-US" sz="1500" dirty="0"/>
          </a:p>
        </p:txBody>
      </p:sp>
      <p:sp>
        <p:nvSpPr>
          <p:cNvPr id="20" name="Shape 18"/>
          <p:cNvSpPr/>
          <p:nvPr/>
        </p:nvSpPr>
        <p:spPr>
          <a:xfrm>
            <a:off x="548640" y="4151376"/>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288536"/>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192524"/>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078224"/>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Delete Preset…</a:t>
            </a:r>
            <a:r>
              <a:rPr lang="en-US" sz="1500" dirty="0">
                <a:solidFill>
                  <a:srgbClr val="6B7789"/>
                </a:solidFill>
                <a:latin typeface="Calibri" pitchFamily="34" charset="0"/>
                <a:ea typeface="Calibri" pitchFamily="34" charset="-122"/>
                <a:cs typeface="Calibri" pitchFamily="34" charset="-120"/>
              </a:rPr>
              <a:t>  —  removes a saved preset</a:t>
            </a:r>
            <a:endParaRPr lang="en-US" sz="1500" dirty="0"/>
          </a:p>
        </p:txBody>
      </p:sp>
      <p:sp>
        <p:nvSpPr>
          <p:cNvPr id="24" name="Shape 22"/>
          <p:cNvSpPr/>
          <p:nvPr/>
        </p:nvSpPr>
        <p:spPr>
          <a:xfrm>
            <a:off x="548640" y="4736592"/>
            <a:ext cx="274320" cy="274320"/>
          </a:xfrm>
          <a:prstGeom prst="ellipse">
            <a:avLst/>
          </a:prstGeom>
          <a:solidFill>
            <a:srgbClr val="E63946"/>
          </a:solidFill>
          <a:ln w="12700">
            <a:solidFill>
              <a:srgbClr val="E63946"/>
            </a:solidFill>
            <a:prstDash val="solid"/>
          </a:ln>
        </p:spPr>
        <p:txBody>
          <a:bodyPr/>
          <a:lstStyle/>
          <a:p>
            <a:endParaRPr lang="en-US"/>
          </a:p>
        </p:txBody>
      </p:sp>
      <p:sp>
        <p:nvSpPr>
          <p:cNvPr id="25" name="Shape 23"/>
          <p:cNvSpPr/>
          <p:nvPr/>
        </p:nvSpPr>
        <p:spPr>
          <a:xfrm>
            <a:off x="589788" y="4873752"/>
            <a:ext cx="192024" cy="0"/>
          </a:xfrm>
          <a:prstGeom prst="line">
            <a:avLst/>
          </a:prstGeom>
          <a:noFill/>
          <a:ln w="19050">
            <a:solidFill>
              <a:srgbClr val="FFFFFF"/>
            </a:solidFill>
            <a:prstDash val="solid"/>
          </a:ln>
        </p:spPr>
        <p:txBody>
          <a:bodyPr/>
          <a:lstStyle/>
          <a:p>
            <a:endParaRPr lang="en-US"/>
          </a:p>
        </p:txBody>
      </p:sp>
      <p:sp>
        <p:nvSpPr>
          <p:cNvPr id="26" name="Shape 24"/>
          <p:cNvSpPr/>
          <p:nvPr/>
        </p:nvSpPr>
        <p:spPr>
          <a:xfrm>
            <a:off x="685800" y="4777740"/>
            <a:ext cx="0" cy="192024"/>
          </a:xfrm>
          <a:prstGeom prst="line">
            <a:avLst/>
          </a:prstGeom>
          <a:noFill/>
          <a:ln w="19050">
            <a:solidFill>
              <a:srgbClr val="FFFFFF"/>
            </a:solidFill>
            <a:prstDash val="solid"/>
          </a:ln>
        </p:spPr>
        <p:txBody>
          <a:bodyPr/>
          <a:lstStyle/>
          <a:p>
            <a:endParaRPr lang="en-US"/>
          </a:p>
        </p:txBody>
      </p:sp>
      <p:sp>
        <p:nvSpPr>
          <p:cNvPr id="27" name="Text 25"/>
          <p:cNvSpPr/>
          <p:nvPr/>
        </p:nvSpPr>
        <p:spPr>
          <a:xfrm>
            <a:off x="1024128" y="466344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Exit (Ctrl+Q)</a:t>
            </a:r>
            <a:r>
              <a:rPr lang="en-US" sz="1500" dirty="0">
                <a:solidFill>
                  <a:srgbClr val="6B7789"/>
                </a:solidFill>
                <a:latin typeface="Calibri" pitchFamily="34" charset="0"/>
                <a:ea typeface="Calibri" pitchFamily="34" charset="-122"/>
                <a:cs typeface="Calibri" pitchFamily="34" charset="-120"/>
              </a:rPr>
              <a:t>  —  closes the app and safely stops the camera worker</a:t>
            </a:r>
            <a:endParaRPr lang="en-US" sz="1500" dirty="0"/>
          </a:p>
        </p:txBody>
      </p:sp>
      <p:sp>
        <p:nvSpPr>
          <p:cNvPr id="28" name="Text 2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9" name="Text 27"/>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7</a:t>
            </a:r>
            <a:endParaRPr lang="en-US" sz="900" dirty="0"/>
          </a:p>
        </p:txBody>
      </p:sp>
      <p:pic>
        <p:nvPicPr>
          <p:cNvPr id="30" name="Picture 29">
            <a:extLst>
              <a:ext uri="{FF2B5EF4-FFF2-40B4-BE49-F238E27FC236}">
                <a16:creationId xmlns:a16="http://schemas.microsoft.com/office/drawing/2014/main" id="{5475A58C-48C5-8DE6-E3EB-BD76996517AD}"/>
              </a:ext>
            </a:extLst>
          </p:cNvPr>
          <p:cNvPicPr>
            <a:picLocks noChangeAspect="1"/>
          </p:cNvPicPr>
          <p:nvPr/>
        </p:nvPicPr>
        <p:blipFill>
          <a:blip r:embed="rId3"/>
          <a:stretch>
            <a:fillRect/>
          </a:stretch>
        </p:blipFill>
        <p:spPr>
          <a:xfrm>
            <a:off x="6862762" y="2322576"/>
            <a:ext cx="3089679" cy="28205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F43DC0-CE28-6B7C-4697-A3A0CA708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8CE96F9-3442-FC72-7091-6F659686DFBB}"/>
              </a:ext>
            </a:extLst>
          </p:cNvPr>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MENU BAR &amp; TOOLBAR</a:t>
            </a:r>
            <a:endParaRPr lang="en-US" sz="1200" dirty="0"/>
          </a:p>
        </p:txBody>
      </p:sp>
      <p:sp>
        <p:nvSpPr>
          <p:cNvPr id="3" name="Text 1">
            <a:extLst>
              <a:ext uri="{FF2B5EF4-FFF2-40B4-BE49-F238E27FC236}">
                <a16:creationId xmlns:a16="http://schemas.microsoft.com/office/drawing/2014/main" id="{CB4A4D9C-E677-FEAA-7177-33EB68148C90}"/>
              </a:ext>
            </a:extLst>
          </p:cNvPr>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Help Menu</a:t>
            </a:r>
            <a:endParaRPr lang="en-US" sz="3200" dirty="0"/>
          </a:p>
        </p:txBody>
      </p:sp>
      <p:sp>
        <p:nvSpPr>
          <p:cNvPr id="4" name="Shape 2">
            <a:extLst>
              <a:ext uri="{FF2B5EF4-FFF2-40B4-BE49-F238E27FC236}">
                <a16:creationId xmlns:a16="http://schemas.microsoft.com/office/drawing/2014/main" id="{49DF6F59-9A0B-5FB4-4A47-FBCBC1FB62BD}"/>
              </a:ext>
            </a:extLst>
          </p:cNvPr>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a:extLst>
              <a:ext uri="{FF2B5EF4-FFF2-40B4-BE49-F238E27FC236}">
                <a16:creationId xmlns:a16="http://schemas.microsoft.com/office/drawing/2014/main" id="{52A8B1F0-2AB7-0569-2127-C5FC73735763}"/>
              </a:ext>
            </a:extLst>
          </p:cNvPr>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a:extLst>
              <a:ext uri="{FF2B5EF4-FFF2-40B4-BE49-F238E27FC236}">
                <a16:creationId xmlns:a16="http://schemas.microsoft.com/office/drawing/2014/main" id="{7FA889AC-4F7F-E582-3C49-F2AE1E6F8506}"/>
              </a:ext>
            </a:extLst>
          </p:cNvPr>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a:extLst>
              <a:ext uri="{FF2B5EF4-FFF2-40B4-BE49-F238E27FC236}">
                <a16:creationId xmlns:a16="http://schemas.microsoft.com/office/drawing/2014/main" id="{D17A2645-EA19-1110-15EC-8538E9619377}"/>
              </a:ext>
            </a:extLst>
          </p:cNvPr>
          <p:cNvSpPr/>
          <p:nvPr/>
        </p:nvSpPr>
        <p:spPr>
          <a:xfrm>
            <a:off x="1024128" y="1737360"/>
            <a:ext cx="10131552" cy="457200"/>
          </a:xfrm>
          <a:prstGeom prst="rect">
            <a:avLst/>
          </a:prstGeom>
          <a:noFill/>
          <a:ln/>
        </p:spPr>
        <p:txBody>
          <a:bodyPr wrap="square" rtlCol="0" anchor="t"/>
          <a:lstStyle/>
          <a:p>
            <a:r>
              <a:rPr lang="en-US" sz="1500" b="1" dirty="0">
                <a:solidFill>
                  <a:srgbClr val="26313F"/>
                </a:solidFill>
                <a:latin typeface="Calibri" pitchFamily="34" charset="0"/>
                <a:ea typeface="Calibri" pitchFamily="34" charset="-122"/>
                <a:cs typeface="Calibri" pitchFamily="34" charset="-120"/>
              </a:rPr>
              <a:t>About </a:t>
            </a:r>
            <a:r>
              <a:rPr lang="en-US" sz="1500" dirty="0">
                <a:solidFill>
                  <a:srgbClr val="6B7789"/>
                </a:solidFill>
                <a:latin typeface="Calibri" pitchFamily="34" charset="0"/>
                <a:ea typeface="Calibri" pitchFamily="34" charset="-122"/>
                <a:cs typeface="Calibri" pitchFamily="34" charset="-120"/>
              </a:rPr>
              <a:t>— Shows detected camera information, app version, and credits</a:t>
            </a:r>
            <a:endParaRPr lang="en-US" sz="1500" dirty="0"/>
          </a:p>
        </p:txBody>
      </p:sp>
      <p:sp>
        <p:nvSpPr>
          <p:cNvPr id="28" name="Text 26">
            <a:extLst>
              <a:ext uri="{FF2B5EF4-FFF2-40B4-BE49-F238E27FC236}">
                <a16:creationId xmlns:a16="http://schemas.microsoft.com/office/drawing/2014/main" id="{77E0945D-DA33-C12F-0C56-8FC0F1C0CC8A}"/>
              </a:ext>
            </a:extLst>
          </p:cNvPr>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9" name="Text 27">
            <a:extLst>
              <a:ext uri="{FF2B5EF4-FFF2-40B4-BE49-F238E27FC236}">
                <a16:creationId xmlns:a16="http://schemas.microsoft.com/office/drawing/2014/main" id="{EC99A263-0CEF-2219-D4DB-63CD71237610}"/>
              </a:ext>
            </a:extLst>
          </p:cNvPr>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8</a:t>
            </a:r>
            <a:endParaRPr lang="en-US" sz="900" dirty="0"/>
          </a:p>
        </p:txBody>
      </p:sp>
      <p:pic>
        <p:nvPicPr>
          <p:cNvPr id="31" name="Picture 30">
            <a:extLst>
              <a:ext uri="{FF2B5EF4-FFF2-40B4-BE49-F238E27FC236}">
                <a16:creationId xmlns:a16="http://schemas.microsoft.com/office/drawing/2014/main" id="{FB3BDC6D-EFC5-D0D0-5CFB-AF328DF570BB}"/>
              </a:ext>
            </a:extLst>
          </p:cNvPr>
          <p:cNvPicPr>
            <a:picLocks noChangeAspect="1"/>
          </p:cNvPicPr>
          <p:nvPr/>
        </p:nvPicPr>
        <p:blipFill>
          <a:blip r:embed="rId3"/>
          <a:stretch>
            <a:fillRect/>
          </a:stretch>
        </p:blipFill>
        <p:spPr>
          <a:xfrm>
            <a:off x="548640" y="2290572"/>
            <a:ext cx="4704343" cy="3936792"/>
          </a:xfrm>
          <a:prstGeom prst="rect">
            <a:avLst/>
          </a:prstGeom>
        </p:spPr>
      </p:pic>
    </p:spTree>
    <p:extLst>
      <p:ext uri="{BB962C8B-B14F-4D97-AF65-F5344CB8AC3E}">
        <p14:creationId xmlns:p14="http://schemas.microsoft.com/office/powerpoint/2010/main" val="701071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MENU BAR &amp; TOOLBAR</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View Menu</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Panel toggles</a:t>
            </a:r>
            <a:r>
              <a:rPr lang="en-US" sz="1500" dirty="0">
                <a:solidFill>
                  <a:srgbClr val="6B7789"/>
                </a:solidFill>
                <a:latin typeface="Calibri" pitchFamily="34" charset="0"/>
                <a:ea typeface="Calibri" pitchFamily="34" charset="-122"/>
                <a:cs typeface="Calibri" pitchFamily="34" charset="-120"/>
              </a:rPr>
              <a:t>  —  Live Video, X Profile, Y Profile, Controls, Calculations, Advanced Settings, Beam Stability, Propagation / M²</a:t>
            </a:r>
            <a:endParaRPr lang="en-US" sz="1500" dirty="0"/>
          </a:p>
        </p:txBody>
      </p:sp>
      <p:sp>
        <p:nvSpPr>
          <p:cNvPr id="8" name="Shape 6"/>
          <p:cNvSpPr/>
          <p:nvPr/>
        </p:nvSpPr>
        <p:spPr>
          <a:xfrm>
            <a:off x="548640" y="276606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90322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80720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692908"/>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Dark Mode</a:t>
            </a:r>
            <a:r>
              <a:rPr lang="en-US" sz="1500" dirty="0">
                <a:solidFill>
                  <a:srgbClr val="6B7789"/>
                </a:solidFill>
                <a:latin typeface="Calibri" pitchFamily="34" charset="0"/>
                <a:ea typeface="Calibri" pitchFamily="34" charset="-122"/>
                <a:cs typeface="Calibri" pitchFamily="34" charset="-120"/>
              </a:rPr>
              <a:t>  —  switches the interface and plots between light and dark themes</a:t>
            </a:r>
            <a:endParaRPr lang="en-US" sz="1500" dirty="0"/>
          </a:p>
        </p:txBody>
      </p:sp>
      <p:sp>
        <p:nvSpPr>
          <p:cNvPr id="18" name="Text 1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19" name="Text 17"/>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9</a:t>
            </a:r>
            <a:endParaRPr lang="en-US" sz="900" dirty="0"/>
          </a:p>
        </p:txBody>
      </p:sp>
      <p:pic>
        <p:nvPicPr>
          <p:cNvPr id="20" name="Picture 19">
            <a:extLst>
              <a:ext uri="{FF2B5EF4-FFF2-40B4-BE49-F238E27FC236}">
                <a16:creationId xmlns:a16="http://schemas.microsoft.com/office/drawing/2014/main" id="{20059C2E-B184-FF61-ED08-5B1392AE9DEC}"/>
              </a:ext>
            </a:extLst>
          </p:cNvPr>
          <p:cNvPicPr>
            <a:picLocks noChangeAspect="1"/>
          </p:cNvPicPr>
          <p:nvPr/>
        </p:nvPicPr>
        <p:blipFill>
          <a:blip r:embed="rId3"/>
          <a:stretch>
            <a:fillRect/>
          </a:stretch>
        </p:blipFill>
        <p:spPr>
          <a:xfrm>
            <a:off x="6583680" y="888491"/>
            <a:ext cx="3607308" cy="4232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MENU BAR &amp; TOOLBAR</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Toolbar &amp; Status Bar</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Toolbar</a:t>
            </a:r>
            <a:r>
              <a:rPr lang="en-US" sz="1400" dirty="0">
                <a:solidFill>
                  <a:srgbClr val="6B7789"/>
                </a:solidFill>
                <a:latin typeface="Calibri" pitchFamily="34" charset="0"/>
                <a:ea typeface="Calibri" pitchFamily="34" charset="-122"/>
                <a:cs typeface="Calibri" pitchFamily="34" charset="-120"/>
              </a:rPr>
              <a:t>  —  one-click show/hide for every major panel</a:t>
            </a:r>
            <a:endParaRPr lang="en-US" sz="1400" dirty="0"/>
          </a:p>
        </p:txBody>
      </p:sp>
      <p:sp>
        <p:nvSpPr>
          <p:cNvPr id="8" name="Shape 6"/>
          <p:cNvSpPr/>
          <p:nvPr/>
        </p:nvSpPr>
        <p:spPr>
          <a:xfrm>
            <a:off x="548640" y="2481072"/>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18232"/>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22220"/>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0792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Highlighted button</a:t>
            </a:r>
            <a:r>
              <a:rPr lang="en-US" sz="1400" dirty="0">
                <a:solidFill>
                  <a:srgbClr val="6B7789"/>
                </a:solidFill>
                <a:latin typeface="Calibri" pitchFamily="34" charset="0"/>
                <a:ea typeface="Calibri" pitchFamily="34" charset="-122"/>
                <a:cs typeface="Calibri" pitchFamily="34" charset="-120"/>
              </a:rPr>
              <a:t>  —  means that panel is currently visible</a:t>
            </a:r>
            <a:endParaRPr lang="en-US" sz="1400" dirty="0"/>
          </a:p>
        </p:txBody>
      </p:sp>
      <p:sp>
        <p:nvSpPr>
          <p:cNvPr id="12" name="Shape 10"/>
          <p:cNvSpPr/>
          <p:nvPr/>
        </p:nvSpPr>
        <p:spPr>
          <a:xfrm>
            <a:off x="548640" y="3151632"/>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288792"/>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192780"/>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07848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Camera &amp; performance</a:t>
            </a:r>
            <a:r>
              <a:rPr lang="en-US" sz="1400" dirty="0">
                <a:solidFill>
                  <a:srgbClr val="6B7789"/>
                </a:solidFill>
                <a:latin typeface="Calibri" pitchFamily="34" charset="0"/>
                <a:ea typeface="Calibri" pitchFamily="34" charset="-122"/>
                <a:cs typeface="Calibri" pitchFamily="34" charset="-120"/>
              </a:rPr>
              <a:t>  —  connection status, acquisition/display FPS</a:t>
            </a:r>
            <a:endParaRPr lang="en-US" sz="1400" dirty="0"/>
          </a:p>
        </p:txBody>
      </p:sp>
      <p:sp>
        <p:nvSpPr>
          <p:cNvPr id="16" name="Shape 14"/>
          <p:cNvSpPr/>
          <p:nvPr/>
        </p:nvSpPr>
        <p:spPr>
          <a:xfrm>
            <a:off x="617220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6213348" y="1947672"/>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309360" y="1851660"/>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6647688" y="173736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Analysis health</a:t>
            </a:r>
            <a:r>
              <a:rPr lang="en-US" sz="1400" dirty="0">
                <a:solidFill>
                  <a:srgbClr val="6B7789"/>
                </a:solidFill>
                <a:latin typeface="Calibri" pitchFamily="34" charset="0"/>
                <a:ea typeface="Calibri" pitchFamily="34" charset="-122"/>
                <a:cs typeface="Calibri" pitchFamily="34" charset="-120"/>
              </a:rPr>
              <a:t>  —  analysis time, dropped frames, frame age, worker errors</a:t>
            </a:r>
            <a:endParaRPr lang="en-US" sz="1400" dirty="0"/>
          </a:p>
        </p:txBody>
      </p:sp>
      <p:sp>
        <p:nvSpPr>
          <p:cNvPr id="20" name="Shape 18"/>
          <p:cNvSpPr/>
          <p:nvPr/>
        </p:nvSpPr>
        <p:spPr>
          <a:xfrm>
            <a:off x="6172200" y="2481072"/>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6213348" y="2618232"/>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309360" y="2522220"/>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6647688" y="240792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Recent activity</a:t>
            </a:r>
            <a:r>
              <a:rPr lang="en-US" sz="1400" dirty="0">
                <a:solidFill>
                  <a:srgbClr val="6B7789"/>
                </a:solidFill>
                <a:latin typeface="Calibri" pitchFamily="34" charset="0"/>
                <a:ea typeface="Calibri" pitchFamily="34" charset="-122"/>
                <a:cs typeface="Calibri" pitchFamily="34" charset="-120"/>
              </a:rPr>
              <a:t>  —  shows the most recent capture</a:t>
            </a:r>
            <a:endParaRPr lang="en-US" sz="140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5" name="Text 23"/>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10</a:t>
            </a:r>
            <a:endParaRPr lang="en-US" sz="900" dirty="0"/>
          </a:p>
        </p:txBody>
      </p:sp>
      <p:pic>
        <p:nvPicPr>
          <p:cNvPr id="27" name="Picture 26">
            <a:extLst>
              <a:ext uri="{FF2B5EF4-FFF2-40B4-BE49-F238E27FC236}">
                <a16:creationId xmlns:a16="http://schemas.microsoft.com/office/drawing/2014/main" id="{55C748E5-0B37-55E9-1F5C-F20ACE728CAF}"/>
              </a:ext>
            </a:extLst>
          </p:cNvPr>
          <p:cNvPicPr>
            <a:picLocks noChangeAspect="1"/>
          </p:cNvPicPr>
          <p:nvPr/>
        </p:nvPicPr>
        <p:blipFill>
          <a:blip r:embed="rId3"/>
          <a:stretch>
            <a:fillRect/>
          </a:stretch>
        </p:blipFill>
        <p:spPr>
          <a:xfrm>
            <a:off x="685800" y="3898773"/>
            <a:ext cx="9591675" cy="1057275"/>
          </a:xfrm>
          <a:prstGeom prst="rect">
            <a:avLst/>
          </a:prstGeom>
        </p:spPr>
      </p:pic>
      <p:pic>
        <p:nvPicPr>
          <p:cNvPr id="29" name="Picture 28">
            <a:extLst>
              <a:ext uri="{FF2B5EF4-FFF2-40B4-BE49-F238E27FC236}">
                <a16:creationId xmlns:a16="http://schemas.microsoft.com/office/drawing/2014/main" id="{EEA007F7-8FA1-80DD-11D5-89908C0C3F49}"/>
              </a:ext>
            </a:extLst>
          </p:cNvPr>
          <p:cNvPicPr>
            <a:picLocks noChangeAspect="1"/>
          </p:cNvPicPr>
          <p:nvPr/>
        </p:nvPicPr>
        <p:blipFill>
          <a:blip r:embed="rId4"/>
          <a:stretch>
            <a:fillRect/>
          </a:stretch>
        </p:blipFill>
        <p:spPr>
          <a:xfrm>
            <a:off x="548640" y="5182782"/>
            <a:ext cx="10648950" cy="2190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822960" y="1920240"/>
            <a:ext cx="2743200" cy="1828800"/>
          </a:xfrm>
          <a:prstGeom prst="rect">
            <a:avLst/>
          </a:prstGeom>
          <a:noFill/>
          <a:ln/>
        </p:spPr>
        <p:txBody>
          <a:bodyPr wrap="square" rtlCol="0" anchor="ctr"/>
          <a:lstStyle/>
          <a:p>
            <a:pPr marL="0" indent="0">
              <a:buNone/>
            </a:pPr>
            <a:r>
              <a:rPr lang="en-US" sz="9600" b="1" dirty="0">
                <a:solidFill>
                  <a:srgbClr val="1D3A63"/>
                </a:solidFill>
                <a:latin typeface="Cambria" pitchFamily="34" charset="0"/>
                <a:ea typeface="Cambria" pitchFamily="34" charset="-122"/>
                <a:cs typeface="Cambria" pitchFamily="34" charset="-120"/>
              </a:rPr>
              <a:t>03</a:t>
            </a:r>
            <a:endParaRPr lang="en-US" sz="9600" dirty="0"/>
          </a:p>
        </p:txBody>
      </p:sp>
      <p:sp>
        <p:nvSpPr>
          <p:cNvPr id="3" name="Shape 1"/>
          <p:cNvSpPr/>
          <p:nvPr/>
        </p:nvSpPr>
        <p:spPr>
          <a:xfrm>
            <a:off x="896112" y="3794760"/>
            <a:ext cx="502920" cy="502920"/>
          </a:xfrm>
          <a:prstGeom prst="ellipse">
            <a:avLst/>
          </a:prstGeom>
          <a:solidFill>
            <a:srgbClr val="E63946"/>
          </a:solidFill>
          <a:ln w="12700">
            <a:solidFill>
              <a:srgbClr val="E63946"/>
            </a:solidFill>
            <a:prstDash val="solid"/>
          </a:ln>
        </p:spPr>
        <p:txBody>
          <a:bodyPr/>
          <a:lstStyle/>
          <a:p>
            <a:endParaRPr lang="en-US"/>
          </a:p>
        </p:txBody>
      </p:sp>
      <p:sp>
        <p:nvSpPr>
          <p:cNvPr id="4" name="Shape 2"/>
          <p:cNvSpPr/>
          <p:nvPr/>
        </p:nvSpPr>
        <p:spPr>
          <a:xfrm>
            <a:off x="971550" y="4046220"/>
            <a:ext cx="352044" cy="0"/>
          </a:xfrm>
          <a:prstGeom prst="line">
            <a:avLst/>
          </a:prstGeom>
          <a:noFill/>
          <a:ln w="19050">
            <a:solidFill>
              <a:srgbClr val="FFFFFF"/>
            </a:solidFill>
            <a:prstDash val="solid"/>
          </a:ln>
        </p:spPr>
        <p:txBody>
          <a:bodyPr/>
          <a:lstStyle/>
          <a:p>
            <a:endParaRPr lang="en-US"/>
          </a:p>
        </p:txBody>
      </p:sp>
      <p:sp>
        <p:nvSpPr>
          <p:cNvPr id="5" name="Shape 3"/>
          <p:cNvSpPr/>
          <p:nvPr/>
        </p:nvSpPr>
        <p:spPr>
          <a:xfrm>
            <a:off x="1147572" y="3870198"/>
            <a:ext cx="0" cy="352044"/>
          </a:xfrm>
          <a:prstGeom prst="line">
            <a:avLst/>
          </a:prstGeom>
          <a:noFill/>
          <a:ln w="19050">
            <a:solidFill>
              <a:srgbClr val="FFFFFF"/>
            </a:solidFill>
            <a:prstDash val="solid"/>
          </a:ln>
        </p:spPr>
        <p:txBody>
          <a:bodyPr/>
          <a:lstStyle/>
          <a:p>
            <a:endParaRPr lang="en-US"/>
          </a:p>
        </p:txBody>
      </p:sp>
      <p:sp>
        <p:nvSpPr>
          <p:cNvPr id="6" name="Text 4"/>
          <p:cNvSpPr/>
          <p:nvPr/>
        </p:nvSpPr>
        <p:spPr>
          <a:xfrm>
            <a:off x="1600200" y="3246120"/>
            <a:ext cx="96012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Getting Started</a:t>
            </a:r>
            <a:endParaRPr lang="en-US" sz="3400" dirty="0"/>
          </a:p>
        </p:txBody>
      </p:sp>
      <p:sp>
        <p:nvSpPr>
          <p:cNvPr id="7" name="Text 5"/>
          <p:cNvSpPr/>
          <p:nvPr/>
        </p:nvSpPr>
        <p:spPr>
          <a:xfrm>
            <a:off x="1627632" y="3977640"/>
            <a:ext cx="9144000" cy="548640"/>
          </a:xfrm>
          <a:prstGeom prst="rect">
            <a:avLst/>
          </a:prstGeom>
          <a:noFill/>
          <a:ln/>
        </p:spPr>
        <p:txBody>
          <a:bodyPr wrap="square" rtlCol="0" anchor="ctr"/>
          <a:lstStyle/>
          <a:p>
            <a:pPr marL="0" indent="0">
              <a:buNone/>
            </a:pPr>
            <a:r>
              <a:rPr lang="en-US" sz="1400" i="1" dirty="0">
                <a:solidFill>
                  <a:srgbClr val="9FB3C8"/>
                </a:solidFill>
                <a:latin typeface="Calibri" pitchFamily="34" charset="0"/>
                <a:ea typeface="Calibri" pitchFamily="34" charset="-122"/>
                <a:cs typeface="Calibri" pitchFamily="34" charset="-120"/>
              </a:rPr>
              <a:t>Launch the app and get a usable beam image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A0597F-08D6-6730-70C9-3444C3E0B31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DF816B-E176-5D75-8966-44113E734CC3}"/>
              </a:ext>
            </a:extLst>
          </p:cNvPr>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GETTING STARTED</a:t>
            </a:r>
            <a:endParaRPr lang="en-US" sz="1200" dirty="0"/>
          </a:p>
        </p:txBody>
      </p:sp>
      <p:sp>
        <p:nvSpPr>
          <p:cNvPr id="3" name="Text 1">
            <a:extLst>
              <a:ext uri="{FF2B5EF4-FFF2-40B4-BE49-F238E27FC236}">
                <a16:creationId xmlns:a16="http://schemas.microsoft.com/office/drawing/2014/main" id="{F91F7B8D-41F2-8818-E404-A88A3FB2650A}"/>
              </a:ext>
            </a:extLst>
          </p:cNvPr>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How to Download the App</a:t>
            </a:r>
            <a:endParaRPr lang="en-US" sz="3200" dirty="0"/>
          </a:p>
        </p:txBody>
      </p:sp>
      <p:sp>
        <p:nvSpPr>
          <p:cNvPr id="4" name="Shape 2">
            <a:extLst>
              <a:ext uri="{FF2B5EF4-FFF2-40B4-BE49-F238E27FC236}">
                <a16:creationId xmlns:a16="http://schemas.microsoft.com/office/drawing/2014/main" id="{BCF71324-B142-C960-4C50-B96C8C9625E2}"/>
              </a:ext>
            </a:extLst>
          </p:cNvPr>
          <p:cNvSpPr/>
          <p:nvPr/>
        </p:nvSpPr>
        <p:spPr>
          <a:xfrm>
            <a:off x="548640" y="1828800"/>
            <a:ext cx="384048" cy="384048"/>
          </a:xfrm>
          <a:prstGeom prst="ellipse">
            <a:avLst/>
          </a:prstGeom>
          <a:solidFill>
            <a:srgbClr val="E63946"/>
          </a:solidFill>
          <a:ln w="12700">
            <a:solidFill>
              <a:srgbClr val="E63946"/>
            </a:solidFill>
            <a:prstDash val="solid"/>
          </a:ln>
        </p:spPr>
        <p:txBody>
          <a:bodyPr/>
          <a:lstStyle/>
          <a:p>
            <a:endParaRPr lang="en-US"/>
          </a:p>
        </p:txBody>
      </p:sp>
      <p:sp>
        <p:nvSpPr>
          <p:cNvPr id="5" name="Text 3">
            <a:extLst>
              <a:ext uri="{FF2B5EF4-FFF2-40B4-BE49-F238E27FC236}">
                <a16:creationId xmlns:a16="http://schemas.microsoft.com/office/drawing/2014/main" id="{F7513154-B070-783A-BF71-E3BA5222B0DA}"/>
              </a:ext>
            </a:extLst>
          </p:cNvPr>
          <p:cNvSpPr/>
          <p:nvPr/>
        </p:nvSpPr>
        <p:spPr>
          <a:xfrm>
            <a:off x="548640" y="18288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a:extLst>
              <a:ext uri="{FF2B5EF4-FFF2-40B4-BE49-F238E27FC236}">
                <a16:creationId xmlns:a16="http://schemas.microsoft.com/office/drawing/2014/main" id="{D4EBE1DC-1A58-52B4-716E-DE99E51D24F4}"/>
              </a:ext>
            </a:extLst>
          </p:cNvPr>
          <p:cNvSpPr/>
          <p:nvPr/>
        </p:nvSpPr>
        <p:spPr>
          <a:xfrm>
            <a:off x="1097280" y="1792224"/>
            <a:ext cx="521208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Download the .zip file in the releases section</a:t>
            </a:r>
            <a:endParaRPr lang="en-US" sz="1450" dirty="0"/>
          </a:p>
          <a:p>
            <a:r>
              <a:rPr lang="en-US" sz="1300" dirty="0" err="1">
                <a:solidFill>
                  <a:srgbClr val="6B7789"/>
                </a:solidFill>
                <a:latin typeface="Calibri" pitchFamily="34" charset="0"/>
                <a:ea typeface="Calibri" pitchFamily="34" charset="-122"/>
                <a:cs typeface="Calibri" pitchFamily="34" charset="-120"/>
              </a:rPr>
              <a:t>Github</a:t>
            </a:r>
            <a:r>
              <a:rPr lang="en-US" sz="1300" dirty="0">
                <a:solidFill>
                  <a:srgbClr val="6B7789"/>
                </a:solidFill>
                <a:latin typeface="Calibri" pitchFamily="34" charset="0"/>
                <a:ea typeface="Calibri" pitchFamily="34" charset="-122"/>
                <a:cs typeface="Calibri" pitchFamily="34" charset="-120"/>
              </a:rPr>
              <a:t>: </a:t>
            </a:r>
            <a:r>
              <a:rPr lang="en-US" sz="1300" dirty="0">
                <a:solidFill>
                  <a:srgbClr val="6B7789"/>
                </a:solidFill>
                <a:latin typeface="Calibri" pitchFamily="34" charset="0"/>
                <a:ea typeface="Calibri" pitchFamily="34" charset="-122"/>
                <a:cs typeface="Calibri" pitchFamily="34" charset="-120"/>
                <a:hlinkClick r:id="rId3"/>
              </a:rPr>
              <a:t>https://github.com/cande3ee/VOILALab-Beam</a:t>
            </a:r>
            <a:endParaRPr lang="en-US" sz="1300" dirty="0">
              <a:solidFill>
                <a:srgbClr val="6B7789"/>
              </a:solidFill>
              <a:latin typeface="Calibri" pitchFamily="34" charset="0"/>
              <a:ea typeface="Calibri" pitchFamily="34" charset="-122"/>
              <a:cs typeface="Calibri" pitchFamily="34" charset="-120"/>
            </a:endParaRPr>
          </a:p>
        </p:txBody>
      </p:sp>
      <p:sp>
        <p:nvSpPr>
          <p:cNvPr id="7" name="Shape 5">
            <a:extLst>
              <a:ext uri="{FF2B5EF4-FFF2-40B4-BE49-F238E27FC236}">
                <a16:creationId xmlns:a16="http://schemas.microsoft.com/office/drawing/2014/main" id="{276D265A-837F-C732-0905-09865677C6C7}"/>
              </a:ext>
            </a:extLst>
          </p:cNvPr>
          <p:cNvSpPr/>
          <p:nvPr/>
        </p:nvSpPr>
        <p:spPr>
          <a:xfrm>
            <a:off x="548640" y="2708910"/>
            <a:ext cx="384048" cy="384048"/>
          </a:xfrm>
          <a:prstGeom prst="ellipse">
            <a:avLst/>
          </a:prstGeom>
          <a:solidFill>
            <a:srgbClr val="E63946"/>
          </a:solidFill>
          <a:ln w="12700">
            <a:solidFill>
              <a:srgbClr val="E63946"/>
            </a:solidFill>
            <a:prstDash val="solid"/>
          </a:ln>
        </p:spPr>
        <p:txBody>
          <a:bodyPr/>
          <a:lstStyle/>
          <a:p>
            <a:endParaRPr lang="en-US"/>
          </a:p>
        </p:txBody>
      </p:sp>
      <p:sp>
        <p:nvSpPr>
          <p:cNvPr id="8" name="Text 6">
            <a:extLst>
              <a:ext uri="{FF2B5EF4-FFF2-40B4-BE49-F238E27FC236}">
                <a16:creationId xmlns:a16="http://schemas.microsoft.com/office/drawing/2014/main" id="{E4F64060-4F84-76C5-E27B-FB1EFEF504F6}"/>
              </a:ext>
            </a:extLst>
          </p:cNvPr>
          <p:cNvSpPr/>
          <p:nvPr/>
        </p:nvSpPr>
        <p:spPr>
          <a:xfrm>
            <a:off x="548640" y="270891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a:extLst>
              <a:ext uri="{FF2B5EF4-FFF2-40B4-BE49-F238E27FC236}">
                <a16:creationId xmlns:a16="http://schemas.microsoft.com/office/drawing/2014/main" id="{35613D2B-86E4-600B-D73E-2E56619FAAC8}"/>
              </a:ext>
            </a:extLst>
          </p:cNvPr>
          <p:cNvSpPr/>
          <p:nvPr/>
        </p:nvSpPr>
        <p:spPr>
          <a:xfrm>
            <a:off x="1097280" y="2672334"/>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Extract all from the zip file</a:t>
            </a:r>
            <a:endParaRPr lang="en-US" sz="1450" dirty="0"/>
          </a:p>
        </p:txBody>
      </p:sp>
      <p:sp>
        <p:nvSpPr>
          <p:cNvPr id="10" name="Shape 8">
            <a:extLst>
              <a:ext uri="{FF2B5EF4-FFF2-40B4-BE49-F238E27FC236}">
                <a16:creationId xmlns:a16="http://schemas.microsoft.com/office/drawing/2014/main" id="{F6F2E03B-DAAB-4670-6574-E751FBC93B1E}"/>
              </a:ext>
            </a:extLst>
          </p:cNvPr>
          <p:cNvSpPr/>
          <p:nvPr/>
        </p:nvSpPr>
        <p:spPr>
          <a:xfrm>
            <a:off x="548640" y="3371088"/>
            <a:ext cx="384048" cy="384048"/>
          </a:xfrm>
          <a:prstGeom prst="ellipse">
            <a:avLst/>
          </a:prstGeom>
          <a:solidFill>
            <a:srgbClr val="E63946"/>
          </a:solidFill>
          <a:ln w="12700">
            <a:solidFill>
              <a:srgbClr val="E63946"/>
            </a:solidFill>
            <a:prstDash val="solid"/>
          </a:ln>
        </p:spPr>
        <p:txBody>
          <a:bodyPr/>
          <a:lstStyle/>
          <a:p>
            <a:endParaRPr lang="en-US"/>
          </a:p>
        </p:txBody>
      </p:sp>
      <p:sp>
        <p:nvSpPr>
          <p:cNvPr id="11" name="Text 9">
            <a:extLst>
              <a:ext uri="{FF2B5EF4-FFF2-40B4-BE49-F238E27FC236}">
                <a16:creationId xmlns:a16="http://schemas.microsoft.com/office/drawing/2014/main" id="{64DEF093-92AA-56E0-99AD-25A13D71C057}"/>
              </a:ext>
            </a:extLst>
          </p:cNvPr>
          <p:cNvSpPr/>
          <p:nvPr/>
        </p:nvSpPr>
        <p:spPr>
          <a:xfrm>
            <a:off x="548640" y="33710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a:extLst>
              <a:ext uri="{FF2B5EF4-FFF2-40B4-BE49-F238E27FC236}">
                <a16:creationId xmlns:a16="http://schemas.microsoft.com/office/drawing/2014/main" id="{5BA95330-9B0B-4213-EF61-22BB2CF1D805}"/>
              </a:ext>
            </a:extLst>
          </p:cNvPr>
          <p:cNvSpPr/>
          <p:nvPr/>
        </p:nvSpPr>
        <p:spPr>
          <a:xfrm>
            <a:off x="1097280" y="3334512"/>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Open </a:t>
            </a:r>
            <a:r>
              <a:rPr lang="en-US" sz="1450" b="1" dirty="0" err="1">
                <a:solidFill>
                  <a:srgbClr val="26313F"/>
                </a:solidFill>
                <a:latin typeface="Calibri" pitchFamily="34" charset="0"/>
                <a:ea typeface="Calibri" pitchFamily="34" charset="-122"/>
                <a:cs typeface="Calibri" pitchFamily="34" charset="-120"/>
              </a:rPr>
              <a:t>VOILALabBeam.exe</a:t>
            </a:r>
            <a:endParaRPr lang="en-US" sz="1450" dirty="0"/>
          </a:p>
        </p:txBody>
      </p:sp>
      <p:sp>
        <p:nvSpPr>
          <p:cNvPr id="19" name="Text 17">
            <a:extLst>
              <a:ext uri="{FF2B5EF4-FFF2-40B4-BE49-F238E27FC236}">
                <a16:creationId xmlns:a16="http://schemas.microsoft.com/office/drawing/2014/main" id="{5E12E409-DA84-76C9-A972-004DB8831ED2}"/>
              </a:ext>
            </a:extLst>
          </p:cNvPr>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0" name="Text 18">
            <a:extLst>
              <a:ext uri="{FF2B5EF4-FFF2-40B4-BE49-F238E27FC236}">
                <a16:creationId xmlns:a16="http://schemas.microsoft.com/office/drawing/2014/main" id="{8E2AE6D4-F9E9-F90F-40DF-1C7FC284454A}"/>
              </a:ext>
            </a:extLst>
          </p:cNvPr>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12</a:t>
            </a:r>
            <a:endParaRPr lang="en-US" sz="900" dirty="0"/>
          </a:p>
        </p:txBody>
      </p:sp>
      <p:pic>
        <p:nvPicPr>
          <p:cNvPr id="23" name="Picture 22">
            <a:extLst>
              <a:ext uri="{FF2B5EF4-FFF2-40B4-BE49-F238E27FC236}">
                <a16:creationId xmlns:a16="http://schemas.microsoft.com/office/drawing/2014/main" id="{A3299D14-391E-2F09-973A-E6EEDA1A6A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9240" y="1720040"/>
            <a:ext cx="5332359" cy="4260691"/>
          </a:xfrm>
          <a:prstGeom prst="rect">
            <a:avLst/>
          </a:prstGeom>
        </p:spPr>
      </p:pic>
    </p:spTree>
    <p:extLst>
      <p:ext uri="{BB962C8B-B14F-4D97-AF65-F5344CB8AC3E}">
        <p14:creationId xmlns:p14="http://schemas.microsoft.com/office/powerpoint/2010/main" val="410927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How to Start the App</a:t>
            </a:r>
            <a:endParaRPr lang="en-US" sz="3200" dirty="0"/>
          </a:p>
        </p:txBody>
      </p:sp>
      <p:sp>
        <p:nvSpPr>
          <p:cNvPr id="4" name="Shape 2"/>
          <p:cNvSpPr/>
          <p:nvPr/>
        </p:nvSpPr>
        <p:spPr>
          <a:xfrm>
            <a:off x="548640" y="1828800"/>
            <a:ext cx="384048" cy="384048"/>
          </a:xfrm>
          <a:prstGeom prst="ellipse">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548640" y="18288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792224"/>
            <a:ext cx="521208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Launch the executable or run the script</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double-click the .exe, or run python v47_packaging_ready.py</a:t>
            </a:r>
            <a:endParaRPr lang="en-US" sz="1450" dirty="0"/>
          </a:p>
        </p:txBody>
      </p:sp>
      <p:sp>
        <p:nvSpPr>
          <p:cNvPr id="7" name="Shape 5"/>
          <p:cNvSpPr/>
          <p:nvPr/>
        </p:nvSpPr>
        <p:spPr>
          <a:xfrm>
            <a:off x="548640" y="2708910"/>
            <a:ext cx="384048" cy="384048"/>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548640" y="270891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2672334"/>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Confirm the main window opens</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with its default panel layout</a:t>
            </a:r>
            <a:endParaRPr lang="en-US" sz="1450" dirty="0"/>
          </a:p>
        </p:txBody>
      </p:sp>
      <p:sp>
        <p:nvSpPr>
          <p:cNvPr id="10" name="Shape 8"/>
          <p:cNvSpPr/>
          <p:nvPr/>
        </p:nvSpPr>
        <p:spPr>
          <a:xfrm>
            <a:off x="548640" y="3371088"/>
            <a:ext cx="384048" cy="384048"/>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548640" y="33710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97280" y="3334512"/>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Open Controls</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this is where you'll select a camera backend next</a:t>
            </a:r>
            <a:endParaRPr lang="en-US" sz="1450" dirty="0"/>
          </a:p>
        </p:txBody>
      </p:sp>
      <p:sp>
        <p:nvSpPr>
          <p:cNvPr id="19" name="Text 17"/>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0" name="Text 18"/>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13</a:t>
            </a:r>
            <a:endParaRPr lang="en-US" sz="900" dirty="0"/>
          </a:p>
        </p:txBody>
      </p:sp>
      <p:pic>
        <p:nvPicPr>
          <p:cNvPr id="21" name="Picture 20">
            <a:extLst>
              <a:ext uri="{FF2B5EF4-FFF2-40B4-BE49-F238E27FC236}">
                <a16:creationId xmlns:a16="http://schemas.microsoft.com/office/drawing/2014/main" id="{A8B4EA27-802C-F855-012A-A74142B4DC24}"/>
              </a:ext>
            </a:extLst>
          </p:cNvPr>
          <p:cNvPicPr>
            <a:picLocks noChangeAspect="1"/>
          </p:cNvPicPr>
          <p:nvPr/>
        </p:nvPicPr>
        <p:blipFill>
          <a:blip r:embed="rId3"/>
          <a:srcRect l="10052" t="8913" r="33254" b="4817"/>
          <a:stretch>
            <a:fillRect/>
          </a:stretch>
        </p:blipFill>
        <p:spPr>
          <a:xfrm>
            <a:off x="5716524" y="1007206"/>
            <a:ext cx="5378196" cy="511181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Connecting a Camera</a:t>
            </a:r>
            <a:endParaRPr lang="en-US" sz="3200" dirty="0"/>
          </a:p>
        </p:txBody>
      </p:sp>
      <p:sp>
        <p:nvSpPr>
          <p:cNvPr id="4" name="Shape 2"/>
          <p:cNvSpPr/>
          <p:nvPr/>
        </p:nvSpPr>
        <p:spPr>
          <a:xfrm>
            <a:off x="548640" y="1828800"/>
            <a:ext cx="384048" cy="384048"/>
          </a:xfrm>
          <a:prstGeom prst="ellipse">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548640" y="18288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792224"/>
            <a:ext cx="521208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Open the Controls panel</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and select the appropriate camera backend (OpenCV, Thorlabs, or UC480)</a:t>
            </a:r>
            <a:endParaRPr lang="en-US" sz="1450" dirty="0"/>
          </a:p>
        </p:txBody>
      </p:sp>
      <p:sp>
        <p:nvSpPr>
          <p:cNvPr id="7" name="Shape 5"/>
          <p:cNvSpPr/>
          <p:nvPr/>
        </p:nvSpPr>
        <p:spPr>
          <a:xfrm>
            <a:off x="548640" y="2708910"/>
            <a:ext cx="384048" cy="384048"/>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548640" y="270891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2672334"/>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Click Scan for Cameras</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lists available devices for that backend</a:t>
            </a:r>
            <a:endParaRPr lang="en-US" sz="1450" dirty="0"/>
          </a:p>
        </p:txBody>
      </p:sp>
      <p:sp>
        <p:nvSpPr>
          <p:cNvPr id="10" name="Shape 8"/>
          <p:cNvSpPr/>
          <p:nvPr/>
        </p:nvSpPr>
        <p:spPr>
          <a:xfrm>
            <a:off x="548640" y="3371088"/>
            <a:ext cx="384048" cy="384048"/>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548640" y="337108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97280" y="3334512"/>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Select your device</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from the list</a:t>
            </a:r>
            <a:endParaRPr lang="en-US" sz="1450" dirty="0"/>
          </a:p>
        </p:txBody>
      </p:sp>
      <p:sp>
        <p:nvSpPr>
          <p:cNvPr id="13" name="Shape 11"/>
          <p:cNvSpPr/>
          <p:nvPr/>
        </p:nvSpPr>
        <p:spPr>
          <a:xfrm>
            <a:off x="548640" y="4033266"/>
            <a:ext cx="384048" cy="384048"/>
          </a:xfrm>
          <a:prstGeom prst="ellipse">
            <a:avLst/>
          </a:prstGeom>
          <a:solidFill>
            <a:srgbClr val="E63946"/>
          </a:solidFill>
          <a:ln w="12700">
            <a:solidFill>
              <a:srgbClr val="E63946"/>
            </a:solidFill>
            <a:prstDash val="solid"/>
          </a:ln>
        </p:spPr>
        <p:txBody>
          <a:bodyPr/>
          <a:lstStyle/>
          <a:p>
            <a:endParaRPr lang="en-US"/>
          </a:p>
        </p:txBody>
      </p:sp>
      <p:sp>
        <p:nvSpPr>
          <p:cNvPr id="14" name="Text 12"/>
          <p:cNvSpPr/>
          <p:nvPr/>
        </p:nvSpPr>
        <p:spPr>
          <a:xfrm>
            <a:off x="548640" y="403326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97280" y="3996690"/>
            <a:ext cx="5212080" cy="384048"/>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Click Connect Camera</a:t>
            </a:r>
            <a:endParaRPr lang="en-US" sz="1450" dirty="0"/>
          </a:p>
        </p:txBody>
      </p:sp>
      <p:sp>
        <p:nvSpPr>
          <p:cNvPr id="16" name="Shape 14"/>
          <p:cNvSpPr/>
          <p:nvPr/>
        </p:nvSpPr>
        <p:spPr>
          <a:xfrm>
            <a:off x="548640" y="4563618"/>
            <a:ext cx="384048" cy="384048"/>
          </a:xfrm>
          <a:prstGeom prst="ellipse">
            <a:avLst/>
          </a:prstGeom>
          <a:solidFill>
            <a:srgbClr val="E63946"/>
          </a:solidFill>
          <a:ln w="12700">
            <a:solidFill>
              <a:srgbClr val="E63946"/>
            </a:solidFill>
            <a:prstDash val="solid"/>
          </a:ln>
        </p:spPr>
        <p:txBody>
          <a:bodyPr/>
          <a:lstStyle/>
          <a:p>
            <a:endParaRPr lang="en-US"/>
          </a:p>
        </p:txBody>
      </p:sp>
      <p:sp>
        <p:nvSpPr>
          <p:cNvPr id="17" name="Text 15"/>
          <p:cNvSpPr/>
          <p:nvPr/>
        </p:nvSpPr>
        <p:spPr>
          <a:xfrm>
            <a:off x="548640" y="456361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97280" y="4527042"/>
            <a:ext cx="521208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Verify pixel pitch</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check it in the Calculations panel — auto-filled where supported, but confirm against the spec sheet</a:t>
            </a:r>
            <a:endParaRPr lang="en-US" sz="1450" dirty="0"/>
          </a:p>
        </p:txBody>
      </p:sp>
      <p:sp>
        <p:nvSpPr>
          <p:cNvPr id="27" name="Text 25"/>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8" name="Text 26"/>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14</a:t>
            </a:r>
            <a:endParaRPr lang="en-US" sz="900" dirty="0"/>
          </a:p>
        </p:txBody>
      </p:sp>
      <p:pic>
        <p:nvPicPr>
          <p:cNvPr id="29" name="Picture 28">
            <a:extLst>
              <a:ext uri="{FF2B5EF4-FFF2-40B4-BE49-F238E27FC236}">
                <a16:creationId xmlns:a16="http://schemas.microsoft.com/office/drawing/2014/main" id="{D2F6660A-82BF-7B7F-92A5-72C1C95A301F}"/>
              </a:ext>
            </a:extLst>
          </p:cNvPr>
          <p:cNvPicPr>
            <a:picLocks noChangeAspect="1"/>
          </p:cNvPicPr>
          <p:nvPr/>
        </p:nvPicPr>
        <p:blipFill>
          <a:blip r:embed="rId3"/>
          <a:stretch>
            <a:fillRect/>
          </a:stretch>
        </p:blipFill>
        <p:spPr>
          <a:xfrm>
            <a:off x="6995160" y="254511"/>
            <a:ext cx="3672945" cy="594512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GETTING STARTED</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Getting Started</a:t>
            </a:r>
            <a:endParaRPr lang="en-US" sz="3200" dirty="0"/>
          </a:p>
        </p:txBody>
      </p:sp>
      <p:sp>
        <p:nvSpPr>
          <p:cNvPr id="7" name="Shape 5"/>
          <p:cNvSpPr/>
          <p:nvPr/>
        </p:nvSpPr>
        <p:spPr>
          <a:xfrm>
            <a:off x="457200" y="3249549"/>
            <a:ext cx="384048" cy="384048"/>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457200" y="3249549"/>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05840" y="3212973"/>
            <a:ext cx="1663848"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Snap to Beam</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You can zoom in and</a:t>
            </a:r>
          </a:p>
          <a:p>
            <a:pPr marL="0" indent="0">
              <a:buNone/>
            </a:pPr>
            <a:r>
              <a:rPr lang="en-US" sz="1300" dirty="0">
                <a:solidFill>
                  <a:srgbClr val="6B7789"/>
                </a:solidFill>
                <a:latin typeface="Calibri" pitchFamily="34" charset="0"/>
                <a:cs typeface="Calibri" pitchFamily="34" charset="-120"/>
              </a:rPr>
              <a:t>Press Snap to Beam</a:t>
            </a:r>
          </a:p>
          <a:p>
            <a:pPr marL="0" indent="0">
              <a:buNone/>
            </a:pPr>
            <a:r>
              <a:rPr lang="en-US" sz="1300" dirty="0">
                <a:solidFill>
                  <a:srgbClr val="6B7789"/>
                </a:solidFill>
                <a:latin typeface="Calibri" pitchFamily="34" charset="0"/>
                <a:cs typeface="Calibri" pitchFamily="34" charset="-120"/>
              </a:rPr>
              <a:t>To automatically center the beam on the panel.</a:t>
            </a:r>
            <a:endParaRPr lang="en-US" sz="1450" dirty="0"/>
          </a:p>
        </p:txBody>
      </p:sp>
      <p:sp>
        <p:nvSpPr>
          <p:cNvPr id="10" name="Shape 8"/>
          <p:cNvSpPr/>
          <p:nvPr/>
        </p:nvSpPr>
        <p:spPr>
          <a:xfrm>
            <a:off x="3664275" y="1651341"/>
            <a:ext cx="384048" cy="384048"/>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3664275" y="1651341"/>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p>
        </p:txBody>
      </p:sp>
      <p:sp>
        <p:nvSpPr>
          <p:cNvPr id="12" name="Text 10"/>
          <p:cNvSpPr/>
          <p:nvPr/>
        </p:nvSpPr>
        <p:spPr>
          <a:xfrm>
            <a:off x="4212915" y="1614765"/>
            <a:ext cx="521208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Watch the A/D Saturation readout</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in the Calculations panel as you go</a:t>
            </a:r>
            <a:endParaRPr lang="en-US" sz="1450" dirty="0"/>
          </a:p>
        </p:txBody>
      </p:sp>
      <p:sp>
        <p:nvSpPr>
          <p:cNvPr id="13" name="Shape 11"/>
          <p:cNvSpPr/>
          <p:nvPr/>
        </p:nvSpPr>
        <p:spPr>
          <a:xfrm>
            <a:off x="4212915" y="907489"/>
            <a:ext cx="384048" cy="384048"/>
          </a:xfrm>
          <a:prstGeom prst="ellipse">
            <a:avLst/>
          </a:prstGeom>
          <a:solidFill>
            <a:srgbClr val="E63946"/>
          </a:solidFill>
          <a:ln w="12700">
            <a:solidFill>
              <a:srgbClr val="E63946"/>
            </a:solidFill>
            <a:prstDash val="solid"/>
          </a:ln>
        </p:spPr>
        <p:txBody>
          <a:bodyPr/>
          <a:lstStyle/>
          <a:p>
            <a:endParaRPr lang="en-US"/>
          </a:p>
        </p:txBody>
      </p:sp>
      <p:sp>
        <p:nvSpPr>
          <p:cNvPr id="14" name="Text 12"/>
          <p:cNvSpPr/>
          <p:nvPr/>
        </p:nvSpPr>
        <p:spPr>
          <a:xfrm>
            <a:off x="4212915" y="907489"/>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4761555" y="870913"/>
            <a:ext cx="521208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Adjust to appropriate pixel pitch</a:t>
            </a:r>
            <a:endParaRPr lang="en-US" sz="1450" dirty="0"/>
          </a:p>
          <a:p>
            <a:pPr marL="0" indent="0">
              <a:buNone/>
            </a:pPr>
            <a:r>
              <a:rPr lang="en-US" sz="1300" dirty="0">
                <a:solidFill>
                  <a:srgbClr val="6B7789"/>
                </a:solidFill>
                <a:latin typeface="Calibri" pitchFamily="34" charset="0"/>
                <a:cs typeface="Calibri" pitchFamily="34" charset="-120"/>
              </a:rPr>
              <a:t>Software cannot detect hardware pixel pitch</a:t>
            </a:r>
            <a:endParaRPr lang="en-US" sz="145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5" name="Text 23"/>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15</a:t>
            </a:r>
            <a:endParaRPr lang="en-US" sz="900" dirty="0"/>
          </a:p>
        </p:txBody>
      </p:sp>
      <p:pic>
        <p:nvPicPr>
          <p:cNvPr id="26" name="Picture 25">
            <a:extLst>
              <a:ext uri="{FF2B5EF4-FFF2-40B4-BE49-F238E27FC236}">
                <a16:creationId xmlns:a16="http://schemas.microsoft.com/office/drawing/2014/main" id="{6FE59C58-07DE-7CF3-880E-BF8899A06A09}"/>
              </a:ext>
            </a:extLst>
          </p:cNvPr>
          <p:cNvPicPr>
            <a:picLocks noChangeAspect="1"/>
          </p:cNvPicPr>
          <p:nvPr/>
        </p:nvPicPr>
        <p:blipFill>
          <a:blip r:embed="rId3"/>
          <a:srcRect t="9988" r="8579" b="11571"/>
          <a:stretch>
            <a:fillRect/>
          </a:stretch>
        </p:blipFill>
        <p:spPr>
          <a:xfrm>
            <a:off x="2669688" y="2189092"/>
            <a:ext cx="7061119" cy="3595384"/>
          </a:xfrm>
          <a:prstGeom prst="rect">
            <a:avLst/>
          </a:prstGeom>
        </p:spPr>
      </p:pic>
      <p:sp>
        <p:nvSpPr>
          <p:cNvPr id="27" name="Shape 2">
            <a:extLst>
              <a:ext uri="{FF2B5EF4-FFF2-40B4-BE49-F238E27FC236}">
                <a16:creationId xmlns:a16="http://schemas.microsoft.com/office/drawing/2014/main" id="{0A97DDAE-0B3C-8EB9-402E-1FADE8677915}"/>
              </a:ext>
            </a:extLst>
          </p:cNvPr>
          <p:cNvSpPr/>
          <p:nvPr/>
        </p:nvSpPr>
        <p:spPr>
          <a:xfrm>
            <a:off x="593844" y="2251195"/>
            <a:ext cx="384048" cy="384048"/>
          </a:xfrm>
          <a:prstGeom prst="ellipse">
            <a:avLst/>
          </a:prstGeom>
          <a:solidFill>
            <a:srgbClr val="E63946"/>
          </a:solidFill>
          <a:ln w="12700">
            <a:solidFill>
              <a:srgbClr val="E63946"/>
            </a:solidFill>
            <a:prstDash val="solid"/>
          </a:ln>
        </p:spPr>
        <p:txBody>
          <a:bodyPr/>
          <a:lstStyle/>
          <a:p>
            <a:endParaRPr lang="en-US"/>
          </a:p>
        </p:txBody>
      </p:sp>
      <p:sp>
        <p:nvSpPr>
          <p:cNvPr id="28" name="Text 3">
            <a:extLst>
              <a:ext uri="{FF2B5EF4-FFF2-40B4-BE49-F238E27FC236}">
                <a16:creationId xmlns:a16="http://schemas.microsoft.com/office/drawing/2014/main" id="{43CD9344-8E97-B832-E444-916E66F9B669}"/>
              </a:ext>
            </a:extLst>
          </p:cNvPr>
          <p:cNvSpPr/>
          <p:nvPr/>
        </p:nvSpPr>
        <p:spPr>
          <a:xfrm>
            <a:off x="593844" y="2251195"/>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9" name="Text 4">
            <a:extLst>
              <a:ext uri="{FF2B5EF4-FFF2-40B4-BE49-F238E27FC236}">
                <a16:creationId xmlns:a16="http://schemas.microsoft.com/office/drawing/2014/main" id="{BCFA837E-6FE0-9F99-2F8F-32B8128309F4}"/>
              </a:ext>
            </a:extLst>
          </p:cNvPr>
          <p:cNvSpPr/>
          <p:nvPr/>
        </p:nvSpPr>
        <p:spPr>
          <a:xfrm>
            <a:off x="1142484" y="2214619"/>
            <a:ext cx="1938168"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Center the beam</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Zoom out, find the</a:t>
            </a:r>
          </a:p>
          <a:p>
            <a:pPr marL="0" indent="0">
              <a:buNone/>
            </a:pPr>
            <a:r>
              <a:rPr lang="en-US" sz="1300" dirty="0">
                <a:solidFill>
                  <a:srgbClr val="6B7789"/>
                </a:solidFill>
                <a:latin typeface="Calibri" pitchFamily="34" charset="0"/>
                <a:cs typeface="Calibri" pitchFamily="34" charset="-120"/>
              </a:rPr>
              <a:t>Beam first, and</a:t>
            </a:r>
          </a:p>
          <a:p>
            <a:pPr marL="0" indent="0">
              <a:buNone/>
            </a:pPr>
            <a:r>
              <a:rPr lang="en-US" sz="1300" dirty="0">
                <a:solidFill>
                  <a:srgbClr val="6B7789"/>
                </a:solidFill>
                <a:latin typeface="Calibri" pitchFamily="34" charset="0"/>
                <a:cs typeface="Calibri" pitchFamily="34" charset="-120"/>
              </a:rPr>
              <a:t>Center it.</a:t>
            </a:r>
            <a:endParaRPr lang="en-US" sz="1450" dirty="0"/>
          </a:p>
        </p:txBody>
      </p:sp>
      <mc:AlternateContent xmlns:mc="http://schemas.openxmlformats.org/markup-compatibility/2006">
        <mc:Choice xmlns:p14="http://schemas.microsoft.com/office/powerpoint/2010/main" Requires="p14">
          <p:contentPart p14:bwMode="auto" r:id="rId4">
            <p14:nvContentPartPr>
              <p14:cNvPr id="32" name="Ink 31">
                <a:extLst>
                  <a:ext uri="{FF2B5EF4-FFF2-40B4-BE49-F238E27FC236}">
                    <a16:creationId xmlns:a16="http://schemas.microsoft.com/office/drawing/2014/main" id="{E8F93F85-7F9F-93A9-D3B5-AAFB3EA674D2}"/>
                  </a:ext>
                </a:extLst>
              </p14:cNvPr>
              <p14:cNvContentPartPr/>
              <p14:nvPr/>
            </p14:nvContentPartPr>
            <p14:xfrm>
              <a:off x="2544675" y="1958601"/>
              <a:ext cx="1668240" cy="646920"/>
            </p14:xfrm>
          </p:contentPart>
        </mc:Choice>
        <mc:Fallback>
          <p:pic>
            <p:nvPicPr>
              <p:cNvPr id="32" name="Ink 31">
                <a:extLst>
                  <a:ext uri="{FF2B5EF4-FFF2-40B4-BE49-F238E27FC236}">
                    <a16:creationId xmlns:a16="http://schemas.microsoft.com/office/drawing/2014/main" id="{E8F93F85-7F9F-93A9-D3B5-AAFB3EA674D2}"/>
                  </a:ext>
                </a:extLst>
              </p:cNvPr>
              <p:cNvPicPr/>
              <p:nvPr/>
            </p:nvPicPr>
            <p:blipFill>
              <a:blip r:embed="rId5"/>
              <a:stretch>
                <a:fillRect/>
              </a:stretch>
            </p:blipFill>
            <p:spPr>
              <a:xfrm>
                <a:off x="2538555" y="1952481"/>
                <a:ext cx="1680480" cy="659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7" name="Ink 36">
                <a:extLst>
                  <a:ext uri="{FF2B5EF4-FFF2-40B4-BE49-F238E27FC236}">
                    <a16:creationId xmlns:a16="http://schemas.microsoft.com/office/drawing/2014/main" id="{3CCC91FF-42C3-82EF-4209-55A62FC17826}"/>
                  </a:ext>
                </a:extLst>
              </p14:cNvPr>
              <p14:cNvContentPartPr/>
              <p14:nvPr/>
            </p14:nvContentPartPr>
            <p14:xfrm>
              <a:off x="5287913" y="2115116"/>
              <a:ext cx="833760" cy="717480"/>
            </p14:xfrm>
          </p:contentPart>
        </mc:Choice>
        <mc:Fallback>
          <p:pic>
            <p:nvPicPr>
              <p:cNvPr id="37" name="Ink 36">
                <a:extLst>
                  <a:ext uri="{FF2B5EF4-FFF2-40B4-BE49-F238E27FC236}">
                    <a16:creationId xmlns:a16="http://schemas.microsoft.com/office/drawing/2014/main" id="{3CCC91FF-42C3-82EF-4209-55A62FC17826}"/>
                  </a:ext>
                </a:extLst>
              </p:cNvPr>
              <p:cNvPicPr/>
              <p:nvPr/>
            </p:nvPicPr>
            <p:blipFill>
              <a:blip r:embed="rId7"/>
              <a:stretch>
                <a:fillRect/>
              </a:stretch>
            </p:blipFill>
            <p:spPr>
              <a:xfrm>
                <a:off x="5281793" y="2108996"/>
                <a:ext cx="846000" cy="7297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9" name="Ink 38">
                <a:extLst>
                  <a:ext uri="{FF2B5EF4-FFF2-40B4-BE49-F238E27FC236}">
                    <a16:creationId xmlns:a16="http://schemas.microsoft.com/office/drawing/2014/main" id="{F2998C81-6A29-C1AF-68D4-0023457DC109}"/>
                  </a:ext>
                </a:extLst>
              </p14:cNvPr>
              <p14:cNvContentPartPr/>
              <p14:nvPr/>
            </p14:nvContentPartPr>
            <p14:xfrm>
              <a:off x="6521262" y="1391961"/>
              <a:ext cx="1254600" cy="1309320"/>
            </p14:xfrm>
          </p:contentPart>
        </mc:Choice>
        <mc:Fallback>
          <p:pic>
            <p:nvPicPr>
              <p:cNvPr id="39" name="Ink 38">
                <a:extLst>
                  <a:ext uri="{FF2B5EF4-FFF2-40B4-BE49-F238E27FC236}">
                    <a16:creationId xmlns:a16="http://schemas.microsoft.com/office/drawing/2014/main" id="{F2998C81-6A29-C1AF-68D4-0023457DC109}"/>
                  </a:ext>
                </a:extLst>
              </p:cNvPr>
              <p:cNvPicPr/>
              <p:nvPr/>
            </p:nvPicPr>
            <p:blipFill>
              <a:blip r:embed="rId9"/>
              <a:stretch>
                <a:fillRect/>
              </a:stretch>
            </p:blipFill>
            <p:spPr>
              <a:xfrm>
                <a:off x="6515142" y="1385841"/>
                <a:ext cx="1266840" cy="1321560"/>
              </a:xfrm>
              <a:prstGeom prst="rect">
                <a:avLst/>
              </a:prstGeom>
            </p:spPr>
          </p:pic>
        </mc:Fallback>
      </mc:AlternateContent>
      <p:sp>
        <p:nvSpPr>
          <p:cNvPr id="43" name="Shape 11">
            <a:extLst>
              <a:ext uri="{FF2B5EF4-FFF2-40B4-BE49-F238E27FC236}">
                <a16:creationId xmlns:a16="http://schemas.microsoft.com/office/drawing/2014/main" id="{04ABDFCE-E262-1577-19E4-FC95BA24C171}"/>
              </a:ext>
            </a:extLst>
          </p:cNvPr>
          <p:cNvSpPr/>
          <p:nvPr/>
        </p:nvSpPr>
        <p:spPr>
          <a:xfrm>
            <a:off x="8106374" y="1576357"/>
            <a:ext cx="384048" cy="384048"/>
          </a:xfrm>
          <a:prstGeom prst="ellipse">
            <a:avLst/>
          </a:prstGeom>
          <a:solidFill>
            <a:srgbClr val="E63946"/>
          </a:solidFill>
          <a:ln w="12700">
            <a:solidFill>
              <a:srgbClr val="E63946"/>
            </a:solidFill>
            <a:prstDash val="solid"/>
          </a:ln>
        </p:spPr>
        <p:txBody>
          <a:bodyPr/>
          <a:lstStyle/>
          <a:p>
            <a:endParaRPr lang="en-US"/>
          </a:p>
        </p:txBody>
      </p:sp>
      <p:sp>
        <p:nvSpPr>
          <p:cNvPr id="44" name="Text 12">
            <a:extLst>
              <a:ext uri="{FF2B5EF4-FFF2-40B4-BE49-F238E27FC236}">
                <a16:creationId xmlns:a16="http://schemas.microsoft.com/office/drawing/2014/main" id="{7E00A383-4C42-72DB-BBF9-42DAABD0E0D9}"/>
              </a:ext>
            </a:extLst>
          </p:cNvPr>
          <p:cNvSpPr/>
          <p:nvPr/>
        </p:nvSpPr>
        <p:spPr>
          <a:xfrm>
            <a:off x="8106374" y="1576357"/>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5" name="Text 13">
            <a:extLst>
              <a:ext uri="{FF2B5EF4-FFF2-40B4-BE49-F238E27FC236}">
                <a16:creationId xmlns:a16="http://schemas.microsoft.com/office/drawing/2014/main" id="{99BB4277-C5E4-19C7-47F5-91295A2347BB}"/>
              </a:ext>
            </a:extLst>
          </p:cNvPr>
          <p:cNvSpPr/>
          <p:nvPr/>
        </p:nvSpPr>
        <p:spPr>
          <a:xfrm>
            <a:off x="8655014" y="1539781"/>
            <a:ext cx="3467510" cy="733806"/>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Adjust exposure</a:t>
            </a:r>
            <a:endParaRPr lang="en-US" sz="1450" dirty="0"/>
          </a:p>
          <a:p>
            <a:pPr marL="0" indent="0">
              <a:buNone/>
            </a:pPr>
            <a:r>
              <a:rPr lang="en-US" sz="1300" dirty="0">
                <a:solidFill>
                  <a:srgbClr val="6B7789"/>
                </a:solidFill>
                <a:latin typeface="Calibri" pitchFamily="34" charset="0"/>
                <a:cs typeface="Calibri" pitchFamily="34" charset="-120"/>
              </a:rPr>
              <a:t>In Controls panel</a:t>
            </a:r>
            <a:endParaRPr lang="en-US" sz="1450" dirty="0"/>
          </a:p>
        </p:txBody>
      </p:sp>
      <mc:AlternateContent xmlns:mc="http://schemas.openxmlformats.org/markup-compatibility/2006">
        <mc:Choice xmlns:p14="http://schemas.microsoft.com/office/powerpoint/2010/main" Requires="p14">
          <p:contentPart p14:bwMode="auto" r:id="rId10">
            <p14:nvContentPartPr>
              <p14:cNvPr id="46" name="Ink 45">
                <a:extLst>
                  <a:ext uri="{FF2B5EF4-FFF2-40B4-BE49-F238E27FC236}">
                    <a16:creationId xmlns:a16="http://schemas.microsoft.com/office/drawing/2014/main" id="{C15554D3-60C5-0B0E-B5D7-1C7295FD9D8F}"/>
                  </a:ext>
                </a:extLst>
              </p14:cNvPr>
              <p14:cNvContentPartPr/>
              <p14:nvPr/>
            </p14:nvContentPartPr>
            <p14:xfrm>
              <a:off x="7791120" y="1921415"/>
              <a:ext cx="2189160" cy="1263960"/>
            </p14:xfrm>
          </p:contentPart>
        </mc:Choice>
        <mc:Fallback>
          <p:pic>
            <p:nvPicPr>
              <p:cNvPr id="46" name="Ink 45">
                <a:extLst>
                  <a:ext uri="{FF2B5EF4-FFF2-40B4-BE49-F238E27FC236}">
                    <a16:creationId xmlns:a16="http://schemas.microsoft.com/office/drawing/2014/main" id="{C15554D3-60C5-0B0E-B5D7-1C7295FD9D8F}"/>
                  </a:ext>
                </a:extLst>
              </p:cNvPr>
              <p:cNvPicPr/>
              <p:nvPr/>
            </p:nvPicPr>
            <p:blipFill>
              <a:blip r:embed="rId11"/>
              <a:stretch>
                <a:fillRect/>
              </a:stretch>
            </p:blipFill>
            <p:spPr>
              <a:xfrm>
                <a:off x="7785000" y="1915295"/>
                <a:ext cx="2201400" cy="12762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822960" y="1920240"/>
            <a:ext cx="2743200" cy="1828800"/>
          </a:xfrm>
          <a:prstGeom prst="rect">
            <a:avLst/>
          </a:prstGeom>
          <a:noFill/>
          <a:ln/>
        </p:spPr>
        <p:txBody>
          <a:bodyPr wrap="square" rtlCol="0" anchor="ctr"/>
          <a:lstStyle/>
          <a:p>
            <a:pPr marL="0" indent="0">
              <a:buNone/>
            </a:pPr>
            <a:r>
              <a:rPr lang="en-US" sz="9600" b="1" dirty="0">
                <a:solidFill>
                  <a:srgbClr val="1D3A63"/>
                </a:solidFill>
                <a:latin typeface="Cambria" pitchFamily="34" charset="0"/>
                <a:ea typeface="Cambria" pitchFamily="34" charset="-122"/>
                <a:cs typeface="Cambria" pitchFamily="34" charset="-120"/>
              </a:rPr>
              <a:t>04</a:t>
            </a:r>
            <a:endParaRPr lang="en-US" sz="9600" dirty="0"/>
          </a:p>
        </p:txBody>
      </p:sp>
      <p:sp>
        <p:nvSpPr>
          <p:cNvPr id="3" name="Shape 1"/>
          <p:cNvSpPr/>
          <p:nvPr/>
        </p:nvSpPr>
        <p:spPr>
          <a:xfrm>
            <a:off x="896112" y="3794760"/>
            <a:ext cx="502920" cy="502920"/>
          </a:xfrm>
          <a:prstGeom prst="ellipse">
            <a:avLst/>
          </a:prstGeom>
          <a:solidFill>
            <a:srgbClr val="E63946"/>
          </a:solidFill>
          <a:ln w="12700">
            <a:solidFill>
              <a:srgbClr val="E63946"/>
            </a:solidFill>
            <a:prstDash val="solid"/>
          </a:ln>
        </p:spPr>
        <p:txBody>
          <a:bodyPr/>
          <a:lstStyle/>
          <a:p>
            <a:endParaRPr lang="en-US"/>
          </a:p>
        </p:txBody>
      </p:sp>
      <p:sp>
        <p:nvSpPr>
          <p:cNvPr id="4" name="Shape 2"/>
          <p:cNvSpPr/>
          <p:nvPr/>
        </p:nvSpPr>
        <p:spPr>
          <a:xfrm>
            <a:off x="971550" y="4046220"/>
            <a:ext cx="352044" cy="0"/>
          </a:xfrm>
          <a:prstGeom prst="line">
            <a:avLst/>
          </a:prstGeom>
          <a:noFill/>
          <a:ln w="19050">
            <a:solidFill>
              <a:srgbClr val="FFFFFF"/>
            </a:solidFill>
            <a:prstDash val="solid"/>
          </a:ln>
        </p:spPr>
        <p:txBody>
          <a:bodyPr/>
          <a:lstStyle/>
          <a:p>
            <a:endParaRPr lang="en-US"/>
          </a:p>
        </p:txBody>
      </p:sp>
      <p:sp>
        <p:nvSpPr>
          <p:cNvPr id="5" name="Shape 3"/>
          <p:cNvSpPr/>
          <p:nvPr/>
        </p:nvSpPr>
        <p:spPr>
          <a:xfrm>
            <a:off x="1147572" y="3870198"/>
            <a:ext cx="0" cy="352044"/>
          </a:xfrm>
          <a:prstGeom prst="line">
            <a:avLst/>
          </a:prstGeom>
          <a:noFill/>
          <a:ln w="19050">
            <a:solidFill>
              <a:srgbClr val="FFFFFF"/>
            </a:solidFill>
            <a:prstDash val="solid"/>
          </a:ln>
        </p:spPr>
        <p:txBody>
          <a:bodyPr/>
          <a:lstStyle/>
          <a:p>
            <a:endParaRPr lang="en-US"/>
          </a:p>
        </p:txBody>
      </p:sp>
      <p:sp>
        <p:nvSpPr>
          <p:cNvPr id="6" name="Text 4"/>
          <p:cNvSpPr/>
          <p:nvPr/>
        </p:nvSpPr>
        <p:spPr>
          <a:xfrm>
            <a:off x="1600200" y="3246120"/>
            <a:ext cx="96012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Panel Tour</a:t>
            </a:r>
            <a:endParaRPr lang="en-US" sz="3400" dirty="0"/>
          </a:p>
        </p:txBody>
      </p:sp>
      <p:sp>
        <p:nvSpPr>
          <p:cNvPr id="7" name="Text 5"/>
          <p:cNvSpPr/>
          <p:nvPr/>
        </p:nvSpPr>
        <p:spPr>
          <a:xfrm>
            <a:off x="1627632" y="3977640"/>
            <a:ext cx="9144000" cy="548640"/>
          </a:xfrm>
          <a:prstGeom prst="rect">
            <a:avLst/>
          </a:prstGeom>
          <a:noFill/>
          <a:ln/>
        </p:spPr>
        <p:txBody>
          <a:bodyPr wrap="square" rtlCol="0" anchor="ctr"/>
          <a:lstStyle/>
          <a:p>
            <a:pPr marL="0" indent="0">
              <a:buNone/>
            </a:pPr>
            <a:r>
              <a:rPr lang="en-US" sz="1400" i="1" dirty="0">
                <a:solidFill>
                  <a:srgbClr val="9FB3C8"/>
                </a:solidFill>
                <a:latin typeface="Calibri" pitchFamily="34" charset="0"/>
                <a:ea typeface="Calibri" pitchFamily="34" charset="-122"/>
                <a:cs typeface="Calibri" pitchFamily="34" charset="-120"/>
              </a:rPr>
              <a:t>Every panel, what it shows, and how to use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The Seven Panels, at a Glance</a:t>
            </a:r>
            <a:endParaRPr lang="en-US" sz="3200" dirty="0"/>
          </a:p>
        </p:txBody>
      </p:sp>
      <p:sp>
        <p:nvSpPr>
          <p:cNvPr id="4" name="Shape 2"/>
          <p:cNvSpPr/>
          <p:nvPr/>
        </p:nvSpPr>
        <p:spPr>
          <a:xfrm>
            <a:off x="548640" y="178308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5" name="Shape 3"/>
          <p:cNvSpPr/>
          <p:nvPr/>
        </p:nvSpPr>
        <p:spPr>
          <a:xfrm>
            <a:off x="74980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6" name="Shape 4"/>
          <p:cNvSpPr/>
          <p:nvPr/>
        </p:nvSpPr>
        <p:spPr>
          <a:xfrm>
            <a:off x="793699" y="2130552"/>
            <a:ext cx="204826" cy="0"/>
          </a:xfrm>
          <a:prstGeom prst="line">
            <a:avLst/>
          </a:prstGeom>
          <a:noFill/>
          <a:ln w="19050">
            <a:solidFill>
              <a:srgbClr val="FFFFFF"/>
            </a:solidFill>
            <a:prstDash val="solid"/>
          </a:ln>
        </p:spPr>
        <p:txBody>
          <a:bodyPr/>
          <a:lstStyle/>
          <a:p>
            <a:endParaRPr lang="en-US"/>
          </a:p>
        </p:txBody>
      </p:sp>
      <p:sp>
        <p:nvSpPr>
          <p:cNvPr id="7" name="Shape 5"/>
          <p:cNvSpPr/>
          <p:nvPr/>
        </p:nvSpPr>
        <p:spPr>
          <a:xfrm>
            <a:off x="896112" y="2028139"/>
            <a:ext cx="0" cy="204826"/>
          </a:xfrm>
          <a:prstGeom prst="line">
            <a:avLst/>
          </a:prstGeom>
          <a:noFill/>
          <a:ln w="19050">
            <a:solidFill>
              <a:srgbClr val="FFFFFF"/>
            </a:solidFill>
            <a:prstDash val="solid"/>
          </a:ln>
        </p:spPr>
        <p:txBody>
          <a:bodyPr/>
          <a:lstStyle/>
          <a:p>
            <a:endParaRPr lang="en-US"/>
          </a:p>
        </p:txBody>
      </p:sp>
      <p:sp>
        <p:nvSpPr>
          <p:cNvPr id="8" name="Text 6"/>
          <p:cNvSpPr/>
          <p:nvPr/>
        </p:nvSpPr>
        <p:spPr>
          <a:xfrm>
            <a:off x="1143000" y="192938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1. Camera Panel</a:t>
            </a:r>
            <a:endParaRPr lang="en-US" sz="1350" dirty="0"/>
          </a:p>
        </p:txBody>
      </p:sp>
      <p:sp>
        <p:nvSpPr>
          <p:cNvPr id="9" name="Text 7"/>
          <p:cNvSpPr/>
          <p:nvPr/>
        </p:nvSpPr>
        <p:spPr>
          <a:xfrm>
            <a:off x="777240" y="240487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Live beam image, crosshairs, zoom, grid overlay</a:t>
            </a:r>
            <a:endParaRPr lang="en-US" sz="1100" dirty="0"/>
          </a:p>
        </p:txBody>
      </p:sp>
      <p:sp>
        <p:nvSpPr>
          <p:cNvPr id="10" name="Shape 8"/>
          <p:cNvSpPr/>
          <p:nvPr/>
        </p:nvSpPr>
        <p:spPr>
          <a:xfrm>
            <a:off x="6217920" y="178308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11" name="Shape 9"/>
          <p:cNvSpPr/>
          <p:nvPr/>
        </p:nvSpPr>
        <p:spPr>
          <a:xfrm>
            <a:off x="641908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12" name="Shape 10"/>
          <p:cNvSpPr/>
          <p:nvPr/>
        </p:nvSpPr>
        <p:spPr>
          <a:xfrm>
            <a:off x="6462979" y="2130552"/>
            <a:ext cx="204826" cy="0"/>
          </a:xfrm>
          <a:prstGeom prst="line">
            <a:avLst/>
          </a:prstGeom>
          <a:noFill/>
          <a:ln w="19050">
            <a:solidFill>
              <a:srgbClr val="FFFFFF"/>
            </a:solidFill>
            <a:prstDash val="solid"/>
          </a:ln>
        </p:spPr>
        <p:txBody>
          <a:bodyPr/>
          <a:lstStyle/>
          <a:p>
            <a:endParaRPr lang="en-US"/>
          </a:p>
        </p:txBody>
      </p:sp>
      <p:sp>
        <p:nvSpPr>
          <p:cNvPr id="13" name="Shape 11"/>
          <p:cNvSpPr/>
          <p:nvPr/>
        </p:nvSpPr>
        <p:spPr>
          <a:xfrm>
            <a:off x="6565392" y="2028139"/>
            <a:ext cx="0" cy="204826"/>
          </a:xfrm>
          <a:prstGeom prst="line">
            <a:avLst/>
          </a:prstGeom>
          <a:noFill/>
          <a:ln w="19050">
            <a:solidFill>
              <a:srgbClr val="FFFFFF"/>
            </a:solidFill>
            <a:prstDash val="solid"/>
          </a:ln>
        </p:spPr>
        <p:txBody>
          <a:bodyPr/>
          <a:lstStyle/>
          <a:p>
            <a:endParaRPr lang="en-US"/>
          </a:p>
        </p:txBody>
      </p:sp>
      <p:sp>
        <p:nvSpPr>
          <p:cNvPr id="14" name="Text 12"/>
          <p:cNvSpPr/>
          <p:nvPr/>
        </p:nvSpPr>
        <p:spPr>
          <a:xfrm>
            <a:off x="6812280" y="192938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2. X / Y Profile Panels</a:t>
            </a:r>
            <a:endParaRPr lang="en-US" sz="1350" dirty="0"/>
          </a:p>
        </p:txBody>
      </p:sp>
      <p:sp>
        <p:nvSpPr>
          <p:cNvPr id="15" name="Text 13"/>
          <p:cNvSpPr/>
          <p:nvPr/>
        </p:nvSpPr>
        <p:spPr>
          <a:xfrm>
            <a:off x="6446520" y="240487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1D intensity slices through the centroid</a:t>
            </a:r>
            <a:endParaRPr lang="en-US" sz="1100" dirty="0"/>
          </a:p>
        </p:txBody>
      </p:sp>
      <p:sp>
        <p:nvSpPr>
          <p:cNvPr id="16" name="Shape 14"/>
          <p:cNvSpPr/>
          <p:nvPr/>
        </p:nvSpPr>
        <p:spPr>
          <a:xfrm>
            <a:off x="548640" y="293751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17" name="Shape 15"/>
          <p:cNvSpPr/>
          <p:nvPr/>
        </p:nvSpPr>
        <p:spPr>
          <a:xfrm>
            <a:off x="749808" y="3138678"/>
            <a:ext cx="292608" cy="292608"/>
          </a:xfrm>
          <a:prstGeom prst="ellipse">
            <a:avLst/>
          </a:prstGeom>
          <a:solidFill>
            <a:srgbClr val="E63946"/>
          </a:solidFill>
          <a:ln w="12700">
            <a:solidFill>
              <a:srgbClr val="E63946"/>
            </a:solidFill>
            <a:prstDash val="solid"/>
          </a:ln>
        </p:spPr>
        <p:txBody>
          <a:bodyPr/>
          <a:lstStyle/>
          <a:p>
            <a:endParaRPr lang="en-US"/>
          </a:p>
        </p:txBody>
      </p:sp>
      <p:sp>
        <p:nvSpPr>
          <p:cNvPr id="18" name="Shape 16"/>
          <p:cNvSpPr/>
          <p:nvPr/>
        </p:nvSpPr>
        <p:spPr>
          <a:xfrm>
            <a:off x="793699" y="3284982"/>
            <a:ext cx="204826" cy="0"/>
          </a:xfrm>
          <a:prstGeom prst="line">
            <a:avLst/>
          </a:prstGeom>
          <a:noFill/>
          <a:ln w="19050">
            <a:solidFill>
              <a:srgbClr val="FFFFFF"/>
            </a:solidFill>
            <a:prstDash val="solid"/>
          </a:ln>
        </p:spPr>
        <p:txBody>
          <a:bodyPr/>
          <a:lstStyle/>
          <a:p>
            <a:endParaRPr lang="en-US"/>
          </a:p>
        </p:txBody>
      </p:sp>
      <p:sp>
        <p:nvSpPr>
          <p:cNvPr id="19" name="Shape 17"/>
          <p:cNvSpPr/>
          <p:nvPr/>
        </p:nvSpPr>
        <p:spPr>
          <a:xfrm>
            <a:off x="896112" y="3182569"/>
            <a:ext cx="0" cy="204826"/>
          </a:xfrm>
          <a:prstGeom prst="line">
            <a:avLst/>
          </a:prstGeom>
          <a:noFill/>
          <a:ln w="19050">
            <a:solidFill>
              <a:srgbClr val="FFFFFF"/>
            </a:solidFill>
            <a:prstDash val="solid"/>
          </a:ln>
        </p:spPr>
        <p:txBody>
          <a:bodyPr/>
          <a:lstStyle/>
          <a:p>
            <a:endParaRPr lang="en-US"/>
          </a:p>
        </p:txBody>
      </p:sp>
      <p:sp>
        <p:nvSpPr>
          <p:cNvPr id="20" name="Text 18"/>
          <p:cNvSpPr/>
          <p:nvPr/>
        </p:nvSpPr>
        <p:spPr>
          <a:xfrm>
            <a:off x="1143000" y="308381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3. Controls Panel</a:t>
            </a:r>
            <a:endParaRPr lang="en-US" sz="1350" dirty="0"/>
          </a:p>
        </p:txBody>
      </p:sp>
      <p:sp>
        <p:nvSpPr>
          <p:cNvPr id="21" name="Text 19"/>
          <p:cNvSpPr/>
          <p:nvPr/>
        </p:nvSpPr>
        <p:spPr>
          <a:xfrm>
            <a:off x="777240" y="355930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Exposure, color map, camera selection</a:t>
            </a:r>
            <a:endParaRPr lang="en-US" sz="1100" dirty="0"/>
          </a:p>
        </p:txBody>
      </p:sp>
      <p:sp>
        <p:nvSpPr>
          <p:cNvPr id="22" name="Shape 20"/>
          <p:cNvSpPr/>
          <p:nvPr/>
        </p:nvSpPr>
        <p:spPr>
          <a:xfrm>
            <a:off x="6217920" y="293751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23" name="Shape 21"/>
          <p:cNvSpPr/>
          <p:nvPr/>
        </p:nvSpPr>
        <p:spPr>
          <a:xfrm>
            <a:off x="6419088" y="3138678"/>
            <a:ext cx="292608" cy="292608"/>
          </a:xfrm>
          <a:prstGeom prst="ellipse">
            <a:avLst/>
          </a:prstGeom>
          <a:solidFill>
            <a:srgbClr val="E63946"/>
          </a:solidFill>
          <a:ln w="12700">
            <a:solidFill>
              <a:srgbClr val="E63946"/>
            </a:solidFill>
            <a:prstDash val="solid"/>
          </a:ln>
        </p:spPr>
        <p:txBody>
          <a:bodyPr/>
          <a:lstStyle/>
          <a:p>
            <a:endParaRPr lang="en-US"/>
          </a:p>
        </p:txBody>
      </p:sp>
      <p:sp>
        <p:nvSpPr>
          <p:cNvPr id="24" name="Shape 22"/>
          <p:cNvSpPr/>
          <p:nvPr/>
        </p:nvSpPr>
        <p:spPr>
          <a:xfrm>
            <a:off x="6462979" y="3284982"/>
            <a:ext cx="204826" cy="0"/>
          </a:xfrm>
          <a:prstGeom prst="line">
            <a:avLst/>
          </a:prstGeom>
          <a:noFill/>
          <a:ln w="19050">
            <a:solidFill>
              <a:srgbClr val="FFFFFF"/>
            </a:solidFill>
            <a:prstDash val="solid"/>
          </a:ln>
        </p:spPr>
        <p:txBody>
          <a:bodyPr/>
          <a:lstStyle/>
          <a:p>
            <a:endParaRPr lang="en-US"/>
          </a:p>
        </p:txBody>
      </p:sp>
      <p:sp>
        <p:nvSpPr>
          <p:cNvPr id="25" name="Shape 23"/>
          <p:cNvSpPr/>
          <p:nvPr/>
        </p:nvSpPr>
        <p:spPr>
          <a:xfrm>
            <a:off x="6565392" y="3182569"/>
            <a:ext cx="0" cy="204826"/>
          </a:xfrm>
          <a:prstGeom prst="line">
            <a:avLst/>
          </a:prstGeom>
          <a:noFill/>
          <a:ln w="19050">
            <a:solidFill>
              <a:srgbClr val="FFFFFF"/>
            </a:solidFill>
            <a:prstDash val="solid"/>
          </a:ln>
        </p:spPr>
        <p:txBody>
          <a:bodyPr/>
          <a:lstStyle/>
          <a:p>
            <a:endParaRPr lang="en-US"/>
          </a:p>
        </p:txBody>
      </p:sp>
      <p:sp>
        <p:nvSpPr>
          <p:cNvPr id="26" name="Text 24"/>
          <p:cNvSpPr/>
          <p:nvPr/>
        </p:nvSpPr>
        <p:spPr>
          <a:xfrm>
            <a:off x="6812280" y="308381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4. Calculations Panel</a:t>
            </a:r>
            <a:endParaRPr lang="en-US" sz="1350" dirty="0"/>
          </a:p>
        </p:txBody>
      </p:sp>
      <p:sp>
        <p:nvSpPr>
          <p:cNvPr id="27" name="Text 25"/>
          <p:cNvSpPr/>
          <p:nvPr/>
        </p:nvSpPr>
        <p:spPr>
          <a:xfrm>
            <a:off x="6446520" y="355930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Widths, centroid/peak, D4σ, power, logging</a:t>
            </a:r>
            <a:endParaRPr lang="en-US" sz="1100" dirty="0"/>
          </a:p>
        </p:txBody>
      </p:sp>
      <p:sp>
        <p:nvSpPr>
          <p:cNvPr id="28" name="Shape 26"/>
          <p:cNvSpPr/>
          <p:nvPr/>
        </p:nvSpPr>
        <p:spPr>
          <a:xfrm>
            <a:off x="548640" y="409194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29" name="Shape 27"/>
          <p:cNvSpPr/>
          <p:nvPr/>
        </p:nvSpPr>
        <p:spPr>
          <a:xfrm>
            <a:off x="74980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30" name="Shape 28"/>
          <p:cNvSpPr/>
          <p:nvPr/>
        </p:nvSpPr>
        <p:spPr>
          <a:xfrm>
            <a:off x="793699" y="4439412"/>
            <a:ext cx="204826" cy="0"/>
          </a:xfrm>
          <a:prstGeom prst="line">
            <a:avLst/>
          </a:prstGeom>
          <a:noFill/>
          <a:ln w="19050">
            <a:solidFill>
              <a:srgbClr val="FFFFFF"/>
            </a:solidFill>
            <a:prstDash val="solid"/>
          </a:ln>
        </p:spPr>
        <p:txBody>
          <a:bodyPr/>
          <a:lstStyle/>
          <a:p>
            <a:endParaRPr lang="en-US"/>
          </a:p>
        </p:txBody>
      </p:sp>
      <p:sp>
        <p:nvSpPr>
          <p:cNvPr id="31" name="Shape 29"/>
          <p:cNvSpPr/>
          <p:nvPr/>
        </p:nvSpPr>
        <p:spPr>
          <a:xfrm>
            <a:off x="896112" y="4336999"/>
            <a:ext cx="0" cy="204826"/>
          </a:xfrm>
          <a:prstGeom prst="line">
            <a:avLst/>
          </a:prstGeom>
          <a:noFill/>
          <a:ln w="19050">
            <a:solidFill>
              <a:srgbClr val="FFFFFF"/>
            </a:solidFill>
            <a:prstDash val="solid"/>
          </a:ln>
        </p:spPr>
        <p:txBody>
          <a:bodyPr/>
          <a:lstStyle/>
          <a:p>
            <a:endParaRPr lang="en-US"/>
          </a:p>
        </p:txBody>
      </p:sp>
      <p:sp>
        <p:nvSpPr>
          <p:cNvPr id="32" name="Text 30"/>
          <p:cNvSpPr/>
          <p:nvPr/>
        </p:nvSpPr>
        <p:spPr>
          <a:xfrm>
            <a:off x="1143000" y="423824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5. Advanced Settings Panel</a:t>
            </a:r>
            <a:endParaRPr lang="en-US" sz="1350" dirty="0"/>
          </a:p>
        </p:txBody>
      </p:sp>
      <p:sp>
        <p:nvSpPr>
          <p:cNvPr id="33" name="Text 31"/>
          <p:cNvSpPr/>
          <p:nvPr/>
        </p:nvSpPr>
        <p:spPr>
          <a:xfrm>
            <a:off x="777240" y="471373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Dark frame, SNR, performance, calibration</a:t>
            </a:r>
            <a:endParaRPr lang="en-US" sz="1100" dirty="0"/>
          </a:p>
        </p:txBody>
      </p:sp>
      <p:sp>
        <p:nvSpPr>
          <p:cNvPr id="34" name="Shape 32"/>
          <p:cNvSpPr/>
          <p:nvPr/>
        </p:nvSpPr>
        <p:spPr>
          <a:xfrm>
            <a:off x="6217920" y="409194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35" name="Shape 33"/>
          <p:cNvSpPr/>
          <p:nvPr/>
        </p:nvSpPr>
        <p:spPr>
          <a:xfrm>
            <a:off x="641908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36" name="Shape 34"/>
          <p:cNvSpPr/>
          <p:nvPr/>
        </p:nvSpPr>
        <p:spPr>
          <a:xfrm>
            <a:off x="6462979" y="4439412"/>
            <a:ext cx="204826" cy="0"/>
          </a:xfrm>
          <a:prstGeom prst="line">
            <a:avLst/>
          </a:prstGeom>
          <a:noFill/>
          <a:ln w="19050">
            <a:solidFill>
              <a:srgbClr val="FFFFFF"/>
            </a:solidFill>
            <a:prstDash val="solid"/>
          </a:ln>
        </p:spPr>
        <p:txBody>
          <a:bodyPr/>
          <a:lstStyle/>
          <a:p>
            <a:endParaRPr lang="en-US"/>
          </a:p>
        </p:txBody>
      </p:sp>
      <p:sp>
        <p:nvSpPr>
          <p:cNvPr id="37" name="Shape 35"/>
          <p:cNvSpPr/>
          <p:nvPr/>
        </p:nvSpPr>
        <p:spPr>
          <a:xfrm>
            <a:off x="6565392" y="4336999"/>
            <a:ext cx="0" cy="204826"/>
          </a:xfrm>
          <a:prstGeom prst="line">
            <a:avLst/>
          </a:prstGeom>
          <a:noFill/>
          <a:ln w="19050">
            <a:solidFill>
              <a:srgbClr val="FFFFFF"/>
            </a:solidFill>
            <a:prstDash val="solid"/>
          </a:ln>
        </p:spPr>
        <p:txBody>
          <a:bodyPr/>
          <a:lstStyle/>
          <a:p>
            <a:endParaRPr lang="en-US"/>
          </a:p>
        </p:txBody>
      </p:sp>
      <p:sp>
        <p:nvSpPr>
          <p:cNvPr id="38" name="Text 36"/>
          <p:cNvSpPr/>
          <p:nvPr/>
        </p:nvSpPr>
        <p:spPr>
          <a:xfrm>
            <a:off x="6812280" y="423824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6. Beam Stability Panel</a:t>
            </a:r>
            <a:endParaRPr lang="en-US" sz="1350" dirty="0"/>
          </a:p>
        </p:txBody>
      </p:sp>
      <p:sp>
        <p:nvSpPr>
          <p:cNvPr id="39" name="Text 37"/>
          <p:cNvSpPr/>
          <p:nvPr/>
        </p:nvSpPr>
        <p:spPr>
          <a:xfrm>
            <a:off x="6446520" y="471373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Centroid drift over time</a:t>
            </a:r>
            <a:endParaRPr lang="en-US" sz="1100" dirty="0"/>
          </a:p>
        </p:txBody>
      </p:sp>
      <p:sp>
        <p:nvSpPr>
          <p:cNvPr id="40" name="Shape 38"/>
          <p:cNvSpPr/>
          <p:nvPr/>
        </p:nvSpPr>
        <p:spPr>
          <a:xfrm>
            <a:off x="548640" y="5246370"/>
            <a:ext cx="5394960" cy="880110"/>
          </a:xfrm>
          <a:prstGeom prst="roundRect">
            <a:avLst>
              <a:gd name="adj" fmla="val 7273"/>
            </a:avLst>
          </a:prstGeom>
          <a:solidFill>
            <a:srgbClr val="F6F8FA"/>
          </a:solidFill>
          <a:ln w="9525">
            <a:solidFill>
              <a:srgbClr val="DDE3E9"/>
            </a:solidFill>
            <a:prstDash val="solid"/>
          </a:ln>
        </p:spPr>
        <p:txBody>
          <a:bodyPr/>
          <a:lstStyle/>
          <a:p>
            <a:endParaRPr lang="en-US"/>
          </a:p>
        </p:txBody>
      </p:sp>
      <p:sp>
        <p:nvSpPr>
          <p:cNvPr id="41" name="Shape 39"/>
          <p:cNvSpPr/>
          <p:nvPr/>
        </p:nvSpPr>
        <p:spPr>
          <a:xfrm>
            <a:off x="749808" y="5447538"/>
            <a:ext cx="292608" cy="292608"/>
          </a:xfrm>
          <a:prstGeom prst="ellipse">
            <a:avLst/>
          </a:prstGeom>
          <a:solidFill>
            <a:srgbClr val="E63946"/>
          </a:solidFill>
          <a:ln w="12700">
            <a:solidFill>
              <a:srgbClr val="E63946"/>
            </a:solidFill>
            <a:prstDash val="solid"/>
          </a:ln>
        </p:spPr>
        <p:txBody>
          <a:bodyPr/>
          <a:lstStyle/>
          <a:p>
            <a:endParaRPr lang="en-US"/>
          </a:p>
        </p:txBody>
      </p:sp>
      <p:sp>
        <p:nvSpPr>
          <p:cNvPr id="42" name="Shape 40"/>
          <p:cNvSpPr/>
          <p:nvPr/>
        </p:nvSpPr>
        <p:spPr>
          <a:xfrm>
            <a:off x="793699" y="5593842"/>
            <a:ext cx="204826" cy="0"/>
          </a:xfrm>
          <a:prstGeom prst="line">
            <a:avLst/>
          </a:prstGeom>
          <a:noFill/>
          <a:ln w="19050">
            <a:solidFill>
              <a:srgbClr val="FFFFFF"/>
            </a:solidFill>
            <a:prstDash val="solid"/>
          </a:ln>
        </p:spPr>
        <p:txBody>
          <a:bodyPr/>
          <a:lstStyle/>
          <a:p>
            <a:endParaRPr lang="en-US"/>
          </a:p>
        </p:txBody>
      </p:sp>
      <p:sp>
        <p:nvSpPr>
          <p:cNvPr id="43" name="Shape 41"/>
          <p:cNvSpPr/>
          <p:nvPr/>
        </p:nvSpPr>
        <p:spPr>
          <a:xfrm>
            <a:off x="896112" y="5491429"/>
            <a:ext cx="0" cy="204826"/>
          </a:xfrm>
          <a:prstGeom prst="line">
            <a:avLst/>
          </a:prstGeom>
          <a:noFill/>
          <a:ln w="19050">
            <a:solidFill>
              <a:srgbClr val="FFFFFF"/>
            </a:solidFill>
            <a:prstDash val="solid"/>
          </a:ln>
        </p:spPr>
        <p:txBody>
          <a:bodyPr/>
          <a:lstStyle/>
          <a:p>
            <a:endParaRPr lang="en-US"/>
          </a:p>
        </p:txBody>
      </p:sp>
      <p:sp>
        <p:nvSpPr>
          <p:cNvPr id="44" name="Text 42"/>
          <p:cNvSpPr/>
          <p:nvPr/>
        </p:nvSpPr>
        <p:spPr>
          <a:xfrm>
            <a:off x="1143000" y="539267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7. Propagation / M² Panel</a:t>
            </a:r>
            <a:endParaRPr lang="en-US" sz="1350" dirty="0"/>
          </a:p>
        </p:txBody>
      </p:sp>
      <p:sp>
        <p:nvSpPr>
          <p:cNvPr id="45" name="Text 43"/>
          <p:cNvSpPr/>
          <p:nvPr/>
        </p:nvSpPr>
        <p:spPr>
          <a:xfrm>
            <a:off x="777240" y="5868162"/>
            <a:ext cx="4937760" cy="10287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Multi-position beam-caustic fitting</a:t>
            </a:r>
            <a:endParaRPr lang="en-US" sz="1100" dirty="0"/>
          </a:p>
        </p:txBody>
      </p:sp>
      <p:sp>
        <p:nvSpPr>
          <p:cNvPr id="46" name="Text 4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47" name="Text 4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1. CAMERA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Camera Panel</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Snap to Beam</a:t>
            </a:r>
            <a:r>
              <a:rPr lang="en-US" sz="1500" dirty="0">
                <a:solidFill>
                  <a:srgbClr val="6B7789"/>
                </a:solidFill>
                <a:latin typeface="Calibri" pitchFamily="34" charset="0"/>
                <a:ea typeface="Calibri" pitchFamily="34" charset="-122"/>
                <a:cs typeface="Calibri" pitchFamily="34" charset="-120"/>
              </a:rPr>
              <a:t>  —  centers the view on the latest measured centroid — handy when zoomed in</a:t>
            </a:r>
            <a:endParaRPr lang="en-US" sz="1500" dirty="0"/>
          </a:p>
        </p:txBody>
      </p:sp>
      <p:sp>
        <p:nvSpPr>
          <p:cNvPr id="8" name="Shape 6"/>
          <p:cNvSpPr/>
          <p:nvPr/>
        </p:nvSpPr>
        <p:spPr>
          <a:xfrm>
            <a:off x="548640" y="251460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5176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5574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41448"/>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Zoom</a:t>
            </a:r>
            <a:r>
              <a:rPr lang="en-US" sz="1500" dirty="0">
                <a:solidFill>
                  <a:srgbClr val="6B7789"/>
                </a:solidFill>
                <a:latin typeface="Calibri" pitchFamily="34" charset="0"/>
                <a:ea typeface="Calibri" pitchFamily="34" charset="-122"/>
                <a:cs typeface="Calibri" pitchFamily="34" charset="-120"/>
              </a:rPr>
              <a:t>  —  changes only the displayed size; never affects resolution or measurements</a:t>
            </a:r>
            <a:endParaRPr lang="en-US" sz="1500" dirty="0"/>
          </a:p>
        </p:txBody>
      </p:sp>
      <p:sp>
        <p:nvSpPr>
          <p:cNvPr id="12" name="Shape 10"/>
          <p:cNvSpPr/>
          <p:nvPr/>
        </p:nvSpPr>
        <p:spPr>
          <a:xfrm>
            <a:off x="548640" y="3218688"/>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355848"/>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259836"/>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14553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Grid Label Size</a:t>
            </a:r>
            <a:r>
              <a:rPr lang="en-US" sz="1500" dirty="0">
                <a:solidFill>
                  <a:srgbClr val="6B7789"/>
                </a:solidFill>
                <a:latin typeface="Calibri" pitchFamily="34" charset="0"/>
                <a:ea typeface="Calibri" pitchFamily="34" charset="-122"/>
                <a:cs typeface="Calibri" pitchFamily="34" charset="-120"/>
              </a:rPr>
              <a:t>  —  adjusts the sensor-axis gridlines and µm labels</a:t>
            </a:r>
            <a:endParaRPr lang="en-US" sz="1500" dirty="0"/>
          </a:p>
        </p:txBody>
      </p:sp>
      <p:sp>
        <p:nvSpPr>
          <p:cNvPr id="16" name="Shape 14"/>
          <p:cNvSpPr/>
          <p:nvPr/>
        </p:nvSpPr>
        <p:spPr>
          <a:xfrm>
            <a:off x="548640" y="3922776"/>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4059936"/>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963924"/>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849624"/>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Centroid / Peak Crosshairs</a:t>
            </a:r>
            <a:r>
              <a:rPr lang="en-US" sz="1500" dirty="0">
                <a:solidFill>
                  <a:srgbClr val="6B7789"/>
                </a:solidFill>
                <a:latin typeface="Calibri" pitchFamily="34" charset="0"/>
                <a:ea typeface="Calibri" pitchFamily="34" charset="-122"/>
                <a:cs typeface="Calibri" pitchFamily="34" charset="-120"/>
              </a:rPr>
              <a:t>  —  show or hide each independently</a:t>
            </a:r>
            <a:endParaRPr lang="en-US" sz="1500" dirty="0"/>
          </a:p>
        </p:txBody>
      </p:sp>
      <p:sp>
        <p:nvSpPr>
          <p:cNvPr id="20" name="Shape 18"/>
          <p:cNvSpPr/>
          <p:nvPr/>
        </p:nvSpPr>
        <p:spPr>
          <a:xfrm>
            <a:off x="548640" y="4626864"/>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764024"/>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668012"/>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553712"/>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Measured FPS</a:t>
            </a:r>
            <a:r>
              <a:rPr lang="en-US" sz="1500" dirty="0">
                <a:solidFill>
                  <a:srgbClr val="6B7789"/>
                </a:solidFill>
                <a:latin typeface="Calibri" pitchFamily="34" charset="0"/>
                <a:ea typeface="Calibri" pitchFamily="34" charset="-122"/>
                <a:cs typeface="Calibri" pitchFamily="34" charset="-120"/>
              </a:rPr>
              <a:t>  —  achieved frame rate and time per frame</a:t>
            </a:r>
            <a:endParaRPr lang="en-US" sz="1500" dirty="0"/>
          </a:p>
        </p:txBody>
      </p:sp>
      <p:sp>
        <p:nvSpPr>
          <p:cNvPr id="30" name="Text 2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31" name="Text 29"/>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18</a:t>
            </a:r>
            <a:endParaRPr lang="en-US" sz="900" dirty="0"/>
          </a:p>
        </p:txBody>
      </p:sp>
      <p:pic>
        <p:nvPicPr>
          <p:cNvPr id="33" name="Picture 32">
            <a:extLst>
              <a:ext uri="{FF2B5EF4-FFF2-40B4-BE49-F238E27FC236}">
                <a16:creationId xmlns:a16="http://schemas.microsoft.com/office/drawing/2014/main" id="{820AE1E6-D8DB-F751-89A7-EC48B753B513}"/>
              </a:ext>
            </a:extLst>
          </p:cNvPr>
          <p:cNvPicPr>
            <a:picLocks noChangeAspect="1"/>
          </p:cNvPicPr>
          <p:nvPr/>
        </p:nvPicPr>
        <p:blipFill>
          <a:blip r:embed="rId3"/>
          <a:srcRect l="1301" t="12024" r="66096" b="38422"/>
          <a:stretch>
            <a:fillRect/>
          </a:stretch>
        </p:blipFill>
        <p:spPr>
          <a:xfrm>
            <a:off x="6598688" y="1069848"/>
            <a:ext cx="5003523" cy="451307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2. X/Y PROFILE PANELS</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X Profile and Y Profile Panels</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Raw Laser Data</a:t>
            </a:r>
            <a:r>
              <a:rPr lang="en-US" sz="1500" dirty="0">
                <a:solidFill>
                  <a:srgbClr val="6B7789"/>
                </a:solidFill>
                <a:latin typeface="Calibri" pitchFamily="34" charset="0"/>
                <a:ea typeface="Calibri" pitchFamily="34" charset="-122"/>
                <a:cs typeface="Calibri" pitchFamily="34" charset="-120"/>
              </a:rPr>
              <a:t>  —  the measured profile samples</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FWHM</a:t>
            </a:r>
            <a:r>
              <a:rPr lang="en-US" sz="1500" dirty="0">
                <a:solidFill>
                  <a:srgbClr val="6B7789"/>
                </a:solidFill>
                <a:latin typeface="Calibri" pitchFamily="34" charset="0"/>
                <a:ea typeface="Calibri" pitchFamily="34" charset="-122"/>
                <a:cs typeface="Calibri" pitchFamily="34" charset="-120"/>
              </a:rPr>
              <a:t>  —  region above 50% of peak-above-background</a:t>
            </a:r>
            <a:endParaRPr lang="en-US" sz="1500" dirty="0"/>
          </a:p>
        </p:txBody>
      </p:sp>
      <p:sp>
        <p:nvSpPr>
          <p:cNvPr id="12" name="Shape 10"/>
          <p:cNvSpPr/>
          <p:nvPr/>
        </p:nvSpPr>
        <p:spPr>
          <a:xfrm>
            <a:off x="548640" y="3099816"/>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236976"/>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140964"/>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026664"/>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1/e² width</a:t>
            </a:r>
            <a:r>
              <a:rPr lang="en-US" sz="1500" dirty="0">
                <a:solidFill>
                  <a:srgbClr val="6B7789"/>
                </a:solidFill>
                <a:latin typeface="Calibri" pitchFamily="34" charset="0"/>
                <a:ea typeface="Calibri" pitchFamily="34" charset="-122"/>
                <a:cs typeface="Calibri" pitchFamily="34" charset="-120"/>
              </a:rPr>
              <a:t>  —  region above ~13.5% of peak-above-background</a:t>
            </a:r>
            <a:endParaRPr lang="en-US" sz="1500" dirty="0"/>
          </a:p>
        </p:txBody>
      </p:sp>
      <p:sp>
        <p:nvSpPr>
          <p:cNvPr id="16" name="Shape 14"/>
          <p:cNvSpPr/>
          <p:nvPr/>
        </p:nvSpPr>
        <p:spPr>
          <a:xfrm>
            <a:off x="548640" y="3803904"/>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941064"/>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845052"/>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730752"/>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Ideal Gaussian</a:t>
            </a:r>
            <a:r>
              <a:rPr lang="en-US" sz="1500" dirty="0">
                <a:solidFill>
                  <a:srgbClr val="6B7789"/>
                </a:solidFill>
                <a:latin typeface="Calibri" pitchFamily="34" charset="0"/>
                <a:ea typeface="Calibri" pitchFamily="34" charset="-122"/>
                <a:cs typeface="Calibri" pitchFamily="34" charset="-120"/>
              </a:rPr>
              <a:t>  —  fitted curve, shown only when it passes the R² quality threshold</a:t>
            </a:r>
            <a:endParaRPr lang="en-US" sz="1500" dirty="0"/>
          </a:p>
        </p:txBody>
      </p:sp>
      <p:sp>
        <p:nvSpPr>
          <p:cNvPr id="20" name="Shape 18"/>
          <p:cNvSpPr/>
          <p:nvPr/>
        </p:nvSpPr>
        <p:spPr>
          <a:xfrm>
            <a:off x="548640" y="4507992"/>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645152"/>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549140"/>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43484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Counts vs. % scale</a:t>
            </a:r>
            <a:r>
              <a:rPr lang="en-US" sz="1500" dirty="0">
                <a:solidFill>
                  <a:srgbClr val="6B7789"/>
                </a:solidFill>
                <a:latin typeface="Calibri" pitchFamily="34" charset="0"/>
                <a:ea typeface="Calibri" pitchFamily="34" charset="-122"/>
                <a:cs typeface="Calibri" pitchFamily="34" charset="-120"/>
              </a:rPr>
              <a:t>  —  toggle raw camera counts or % of sensor full-scale in the top of the Controls panel</a:t>
            </a:r>
            <a:endParaRPr lang="en-US" sz="1500" dirty="0"/>
          </a:p>
        </p:txBody>
      </p:sp>
      <p:sp>
        <p:nvSpPr>
          <p:cNvPr id="31" name="Text 29"/>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32" name="Text 30"/>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19</a:t>
            </a:r>
            <a:endParaRPr lang="en-US" sz="900" dirty="0"/>
          </a:p>
        </p:txBody>
      </p:sp>
      <p:pic>
        <p:nvPicPr>
          <p:cNvPr id="33" name="Picture 32">
            <a:extLst>
              <a:ext uri="{FF2B5EF4-FFF2-40B4-BE49-F238E27FC236}">
                <a16:creationId xmlns:a16="http://schemas.microsoft.com/office/drawing/2014/main" id="{2574B036-2443-2F52-CE02-3CE4402C2D22}"/>
              </a:ext>
            </a:extLst>
          </p:cNvPr>
          <p:cNvPicPr>
            <a:picLocks noChangeAspect="1"/>
          </p:cNvPicPr>
          <p:nvPr/>
        </p:nvPicPr>
        <p:blipFill>
          <a:blip r:embed="rId3"/>
          <a:srcRect l="1279" t="62538" r="53603" b="14593"/>
          <a:stretch>
            <a:fillRect/>
          </a:stretch>
        </p:blipFill>
        <p:spPr>
          <a:xfrm>
            <a:off x="6356773" y="1903821"/>
            <a:ext cx="5467839" cy="164467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3. CONTROLS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Controls Panel</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 of Full Scale</a:t>
            </a:r>
            <a:r>
              <a:rPr lang="en-US" sz="1400" dirty="0">
                <a:solidFill>
                  <a:srgbClr val="6B7789"/>
                </a:solidFill>
                <a:latin typeface="Calibri" pitchFamily="34" charset="0"/>
                <a:ea typeface="Calibri" pitchFamily="34" charset="-122"/>
                <a:cs typeface="Calibri" pitchFamily="34" charset="-120"/>
              </a:rPr>
              <a:t>  —  toggle for the profile graph scale</a:t>
            </a:r>
            <a:endParaRPr lang="en-US" sz="1400" dirty="0"/>
          </a:p>
        </p:txBody>
      </p:sp>
      <p:sp>
        <p:nvSpPr>
          <p:cNvPr id="8" name="Shape 6"/>
          <p:cNvSpPr/>
          <p:nvPr/>
        </p:nvSpPr>
        <p:spPr>
          <a:xfrm>
            <a:off x="548640" y="2481072"/>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18232"/>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22220"/>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0792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Capture Image</a:t>
            </a:r>
            <a:r>
              <a:rPr lang="en-US" sz="1400" dirty="0">
                <a:solidFill>
                  <a:srgbClr val="6B7789"/>
                </a:solidFill>
                <a:latin typeface="Calibri" pitchFamily="34" charset="0"/>
                <a:ea typeface="Calibri" pitchFamily="34" charset="-122"/>
                <a:cs typeface="Calibri" pitchFamily="34" charset="-120"/>
              </a:rPr>
              <a:t>  —  saves the exact latest analyzed frame (.</a:t>
            </a:r>
            <a:r>
              <a:rPr lang="en-US" sz="1400" dirty="0" err="1">
                <a:solidFill>
                  <a:srgbClr val="6B7789"/>
                </a:solidFill>
                <a:latin typeface="Calibri" pitchFamily="34" charset="0"/>
                <a:ea typeface="Calibri" pitchFamily="34" charset="-122"/>
                <a:cs typeface="Calibri" pitchFamily="34" charset="-120"/>
              </a:rPr>
              <a:t>tif</a:t>
            </a:r>
            <a:r>
              <a:rPr lang="en-US" sz="1400" dirty="0">
                <a:solidFill>
                  <a:srgbClr val="6B7789"/>
                </a:solidFill>
                <a:latin typeface="Calibri" pitchFamily="34" charset="0"/>
                <a:ea typeface="Calibri" pitchFamily="34" charset="-122"/>
                <a:cs typeface="Calibri" pitchFamily="34" charset="-120"/>
              </a:rPr>
              <a:t>, .</a:t>
            </a:r>
            <a:r>
              <a:rPr lang="en-US" sz="1400" dirty="0" err="1">
                <a:solidFill>
                  <a:srgbClr val="6B7789"/>
                </a:solidFill>
                <a:latin typeface="Calibri" pitchFamily="34" charset="0"/>
                <a:ea typeface="Calibri" pitchFamily="34" charset="-122"/>
                <a:cs typeface="Calibri" pitchFamily="34" charset="-120"/>
              </a:rPr>
              <a:t>npy</a:t>
            </a:r>
            <a:r>
              <a:rPr lang="en-US" sz="1400" dirty="0">
                <a:solidFill>
                  <a:srgbClr val="6B7789"/>
                </a:solidFill>
                <a:latin typeface="Calibri" pitchFamily="34" charset="0"/>
                <a:ea typeface="Calibri" pitchFamily="34" charset="-122"/>
                <a:cs typeface="Calibri" pitchFamily="34" charset="-120"/>
              </a:rPr>
              <a:t>, .</a:t>
            </a:r>
            <a:r>
              <a:rPr lang="en-US" sz="1400" dirty="0" err="1">
                <a:solidFill>
                  <a:srgbClr val="6B7789"/>
                </a:solidFill>
                <a:latin typeface="Calibri" pitchFamily="34" charset="0"/>
                <a:ea typeface="Calibri" pitchFamily="34" charset="-122"/>
                <a:cs typeface="Calibri" pitchFamily="34" charset="-120"/>
              </a:rPr>
              <a:t>json</a:t>
            </a:r>
            <a:r>
              <a:rPr lang="en-US" sz="1400" dirty="0">
                <a:solidFill>
                  <a:srgbClr val="6B7789"/>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548640" y="3151632"/>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288792"/>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192780"/>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07848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Camera Exposure</a:t>
            </a:r>
            <a:r>
              <a:rPr lang="en-US" sz="1400" dirty="0">
                <a:solidFill>
                  <a:srgbClr val="6B7789"/>
                </a:solidFill>
                <a:latin typeface="Calibri" pitchFamily="34" charset="0"/>
                <a:ea typeface="Calibri" pitchFamily="34" charset="-122"/>
                <a:cs typeface="Calibri" pitchFamily="34" charset="-120"/>
              </a:rPr>
              <a:t>  —  slider for speed, spin box for precise ms entry</a:t>
            </a:r>
            <a:endParaRPr lang="en-US" sz="1400" dirty="0"/>
          </a:p>
        </p:txBody>
      </p:sp>
      <p:sp>
        <p:nvSpPr>
          <p:cNvPr id="16" name="Shape 14"/>
          <p:cNvSpPr/>
          <p:nvPr/>
        </p:nvSpPr>
        <p:spPr>
          <a:xfrm>
            <a:off x="548640" y="3822192"/>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959352"/>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863340"/>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749040"/>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Color Map</a:t>
            </a:r>
            <a:r>
              <a:rPr lang="en-US" sz="1400" dirty="0">
                <a:solidFill>
                  <a:srgbClr val="6B7789"/>
                </a:solidFill>
                <a:latin typeface="Calibri" pitchFamily="34" charset="0"/>
                <a:ea typeface="Calibri" pitchFamily="34" charset="-122"/>
                <a:cs typeface="Calibri" pitchFamily="34" charset="-120"/>
              </a:rPr>
              <a:t>  —  Inferno / Jet / Hot / Magma — display only</a:t>
            </a:r>
            <a:endParaRPr lang="en-US" sz="1400" dirty="0"/>
          </a:p>
        </p:txBody>
      </p:sp>
      <p:sp>
        <p:nvSpPr>
          <p:cNvPr id="20" name="Shape 18"/>
          <p:cNvSpPr/>
          <p:nvPr/>
        </p:nvSpPr>
        <p:spPr>
          <a:xfrm>
            <a:off x="548640" y="4367784"/>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504944"/>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408932"/>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294632"/>
            <a:ext cx="4919472" cy="457200"/>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Zoom Level</a:t>
            </a:r>
            <a:r>
              <a:rPr lang="en-US" sz="1400" dirty="0">
                <a:solidFill>
                  <a:srgbClr val="6B7789"/>
                </a:solidFill>
                <a:latin typeface="Calibri" pitchFamily="34" charset="0"/>
                <a:ea typeface="Calibri" pitchFamily="34" charset="-122"/>
                <a:cs typeface="Calibri" pitchFamily="34" charset="-120"/>
              </a:rPr>
              <a:t>  —  mirrors the Camera Panel zoom</a:t>
            </a:r>
            <a:endParaRPr lang="en-US" sz="1400" dirty="0"/>
          </a:p>
        </p:txBody>
      </p:sp>
      <p:sp>
        <p:nvSpPr>
          <p:cNvPr id="24" name="Shape 22"/>
          <p:cNvSpPr/>
          <p:nvPr/>
        </p:nvSpPr>
        <p:spPr>
          <a:xfrm>
            <a:off x="548640" y="4953000"/>
            <a:ext cx="274320" cy="274320"/>
          </a:xfrm>
          <a:prstGeom prst="ellipse">
            <a:avLst/>
          </a:prstGeom>
          <a:solidFill>
            <a:srgbClr val="E63946"/>
          </a:solidFill>
          <a:ln w="12700">
            <a:solidFill>
              <a:srgbClr val="E63946"/>
            </a:solidFill>
            <a:prstDash val="solid"/>
          </a:ln>
        </p:spPr>
        <p:txBody>
          <a:bodyPr/>
          <a:lstStyle/>
          <a:p>
            <a:endParaRPr lang="en-US"/>
          </a:p>
        </p:txBody>
      </p:sp>
      <p:sp>
        <p:nvSpPr>
          <p:cNvPr id="25" name="Shape 23"/>
          <p:cNvSpPr/>
          <p:nvPr/>
        </p:nvSpPr>
        <p:spPr>
          <a:xfrm>
            <a:off x="589788" y="5090160"/>
            <a:ext cx="192024" cy="0"/>
          </a:xfrm>
          <a:prstGeom prst="line">
            <a:avLst/>
          </a:prstGeom>
          <a:noFill/>
          <a:ln w="19050">
            <a:solidFill>
              <a:srgbClr val="FFFFFF"/>
            </a:solidFill>
            <a:prstDash val="solid"/>
          </a:ln>
        </p:spPr>
        <p:txBody>
          <a:bodyPr/>
          <a:lstStyle/>
          <a:p>
            <a:endParaRPr lang="en-US"/>
          </a:p>
        </p:txBody>
      </p:sp>
      <p:sp>
        <p:nvSpPr>
          <p:cNvPr id="26" name="Shape 24"/>
          <p:cNvSpPr/>
          <p:nvPr/>
        </p:nvSpPr>
        <p:spPr>
          <a:xfrm>
            <a:off x="685800" y="4994148"/>
            <a:ext cx="0" cy="192024"/>
          </a:xfrm>
          <a:prstGeom prst="line">
            <a:avLst/>
          </a:prstGeom>
          <a:noFill/>
          <a:ln w="19050">
            <a:solidFill>
              <a:srgbClr val="FFFFFF"/>
            </a:solidFill>
            <a:prstDash val="solid"/>
          </a:ln>
        </p:spPr>
        <p:txBody>
          <a:bodyPr/>
          <a:lstStyle/>
          <a:p>
            <a:endParaRPr lang="en-US"/>
          </a:p>
        </p:txBody>
      </p:sp>
      <p:sp>
        <p:nvSpPr>
          <p:cNvPr id="27" name="Text 25"/>
          <p:cNvSpPr/>
          <p:nvPr/>
        </p:nvSpPr>
        <p:spPr>
          <a:xfrm>
            <a:off x="1024128" y="4879848"/>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Overlay Curve Height / Raw Data Opacity</a:t>
            </a:r>
            <a:r>
              <a:rPr lang="en-US" sz="1400" dirty="0">
                <a:solidFill>
                  <a:srgbClr val="6B7789"/>
                </a:solidFill>
                <a:latin typeface="Calibri" pitchFamily="34" charset="0"/>
                <a:ea typeface="Calibri" pitchFamily="34" charset="-122"/>
                <a:cs typeface="Calibri" pitchFamily="34" charset="-120"/>
              </a:rPr>
              <a:t>  —  tune the on-image profile overlay</a:t>
            </a:r>
            <a:endParaRPr lang="en-US" sz="1400" dirty="0"/>
          </a:p>
        </p:txBody>
      </p:sp>
      <p:sp>
        <p:nvSpPr>
          <p:cNvPr id="28" name="Shape 26"/>
          <p:cNvSpPr/>
          <p:nvPr/>
        </p:nvSpPr>
        <p:spPr>
          <a:xfrm>
            <a:off x="548640" y="5623560"/>
            <a:ext cx="274320" cy="274320"/>
          </a:xfrm>
          <a:prstGeom prst="ellipse">
            <a:avLst/>
          </a:prstGeom>
          <a:solidFill>
            <a:srgbClr val="E63946"/>
          </a:solidFill>
          <a:ln w="12700">
            <a:solidFill>
              <a:srgbClr val="E63946"/>
            </a:solidFill>
            <a:prstDash val="solid"/>
          </a:ln>
        </p:spPr>
        <p:txBody>
          <a:bodyPr/>
          <a:lstStyle/>
          <a:p>
            <a:endParaRPr lang="en-US"/>
          </a:p>
        </p:txBody>
      </p:sp>
      <p:sp>
        <p:nvSpPr>
          <p:cNvPr id="29" name="Shape 27"/>
          <p:cNvSpPr/>
          <p:nvPr/>
        </p:nvSpPr>
        <p:spPr>
          <a:xfrm>
            <a:off x="589788" y="5760720"/>
            <a:ext cx="192024" cy="0"/>
          </a:xfrm>
          <a:prstGeom prst="line">
            <a:avLst/>
          </a:prstGeom>
          <a:noFill/>
          <a:ln w="19050">
            <a:solidFill>
              <a:srgbClr val="FFFFFF"/>
            </a:solidFill>
            <a:prstDash val="solid"/>
          </a:ln>
        </p:spPr>
        <p:txBody>
          <a:bodyPr/>
          <a:lstStyle/>
          <a:p>
            <a:endParaRPr lang="en-US"/>
          </a:p>
        </p:txBody>
      </p:sp>
      <p:sp>
        <p:nvSpPr>
          <p:cNvPr id="30" name="Shape 28"/>
          <p:cNvSpPr/>
          <p:nvPr/>
        </p:nvSpPr>
        <p:spPr>
          <a:xfrm>
            <a:off x="685800" y="5664708"/>
            <a:ext cx="0" cy="192024"/>
          </a:xfrm>
          <a:prstGeom prst="line">
            <a:avLst/>
          </a:prstGeom>
          <a:noFill/>
          <a:ln w="19050">
            <a:solidFill>
              <a:srgbClr val="FFFFFF"/>
            </a:solidFill>
            <a:prstDash val="solid"/>
          </a:ln>
        </p:spPr>
        <p:txBody>
          <a:bodyPr/>
          <a:lstStyle/>
          <a:p>
            <a:endParaRPr lang="en-US"/>
          </a:p>
        </p:txBody>
      </p:sp>
      <p:sp>
        <p:nvSpPr>
          <p:cNvPr id="31" name="Text 29"/>
          <p:cNvSpPr/>
          <p:nvPr/>
        </p:nvSpPr>
        <p:spPr>
          <a:xfrm>
            <a:off x="1024128" y="5550408"/>
            <a:ext cx="4919472" cy="542544"/>
          </a:xfrm>
          <a:prstGeom prst="rect">
            <a:avLst/>
          </a:prstGeom>
          <a:noFill/>
          <a:ln/>
        </p:spPr>
        <p:txBody>
          <a:bodyPr wrap="square" rtlCol="0" anchor="t"/>
          <a:lstStyle/>
          <a:p>
            <a:pPr marL="0" indent="0">
              <a:buNone/>
            </a:pPr>
            <a:r>
              <a:rPr lang="en-US" sz="1400" b="1" dirty="0">
                <a:solidFill>
                  <a:srgbClr val="26313F"/>
                </a:solidFill>
                <a:latin typeface="Calibri" pitchFamily="34" charset="0"/>
                <a:ea typeface="Calibri" pitchFamily="34" charset="-122"/>
                <a:cs typeface="Calibri" pitchFamily="34" charset="-120"/>
              </a:rPr>
              <a:t>Camera Selection</a:t>
            </a:r>
            <a:r>
              <a:rPr lang="en-US" sz="1400" dirty="0">
                <a:solidFill>
                  <a:srgbClr val="6B7789"/>
                </a:solidFill>
                <a:latin typeface="Calibri" pitchFamily="34" charset="0"/>
                <a:ea typeface="Calibri" pitchFamily="34" charset="-122"/>
                <a:cs typeface="Calibri" pitchFamily="34" charset="-120"/>
              </a:rPr>
              <a:t>  —  backend → Scan → select → Connect</a:t>
            </a:r>
            <a:endParaRPr lang="en-US" sz="1400" dirty="0"/>
          </a:p>
        </p:txBody>
      </p:sp>
      <p:sp>
        <p:nvSpPr>
          <p:cNvPr id="32" name="Text 30"/>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33" name="Text 31"/>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20</a:t>
            </a:r>
            <a:endParaRPr lang="en-US" sz="900" dirty="0"/>
          </a:p>
        </p:txBody>
      </p:sp>
      <p:pic>
        <p:nvPicPr>
          <p:cNvPr id="34" name="Picture 33">
            <a:extLst>
              <a:ext uri="{FF2B5EF4-FFF2-40B4-BE49-F238E27FC236}">
                <a16:creationId xmlns:a16="http://schemas.microsoft.com/office/drawing/2014/main" id="{7665DCEE-9B9A-56DD-244D-3343290CA5EF}"/>
              </a:ext>
            </a:extLst>
          </p:cNvPr>
          <p:cNvPicPr>
            <a:picLocks noChangeAspect="1"/>
          </p:cNvPicPr>
          <p:nvPr/>
        </p:nvPicPr>
        <p:blipFill>
          <a:blip r:embed="rId3"/>
          <a:srcRect l="66605" t="12102" r="9555" b="23142"/>
          <a:stretch>
            <a:fillRect/>
          </a:stretch>
        </p:blipFill>
        <p:spPr>
          <a:xfrm>
            <a:off x="6248402" y="616630"/>
            <a:ext cx="3645406" cy="587596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4. CALCULATIONS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Calculations Panel — Core Measurements</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Pixel Pitch</a:t>
            </a:r>
            <a:r>
              <a:rPr lang="en-US" sz="1500" dirty="0">
                <a:solidFill>
                  <a:srgbClr val="6B7789"/>
                </a:solidFill>
                <a:latin typeface="Calibri" pitchFamily="34" charset="0"/>
                <a:ea typeface="Calibri" pitchFamily="34" charset="-122"/>
                <a:cs typeface="Calibri" pitchFamily="34" charset="-120"/>
              </a:rPr>
              <a:t>  —  physical size of one pixel (µm) — verify against the camera spec</a:t>
            </a:r>
            <a:endParaRPr lang="en-US" sz="1500" dirty="0"/>
          </a:p>
        </p:txBody>
      </p:sp>
      <p:sp>
        <p:nvSpPr>
          <p:cNvPr id="8" name="Shape 6"/>
          <p:cNvSpPr/>
          <p:nvPr/>
        </p:nvSpPr>
        <p:spPr>
          <a:xfrm>
            <a:off x="548640" y="251460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5176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5574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41448"/>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A/D Saturation</a:t>
            </a:r>
            <a:r>
              <a:rPr lang="en-US" sz="1500" dirty="0">
                <a:solidFill>
                  <a:srgbClr val="6B7789"/>
                </a:solidFill>
                <a:latin typeface="Calibri" pitchFamily="34" charset="0"/>
                <a:ea typeface="Calibri" pitchFamily="34" charset="-122"/>
                <a:cs typeface="Calibri" pitchFamily="34" charset="-120"/>
              </a:rPr>
              <a:t>  —  brightest pixel as % of full-scale</a:t>
            </a:r>
            <a:endParaRPr lang="en-US" sz="1500" dirty="0"/>
          </a:p>
        </p:txBody>
      </p:sp>
      <p:sp>
        <p:nvSpPr>
          <p:cNvPr id="12" name="Shape 10"/>
          <p:cNvSpPr/>
          <p:nvPr/>
        </p:nvSpPr>
        <p:spPr>
          <a:xfrm>
            <a:off x="548640" y="3218688"/>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355848"/>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259836"/>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14553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1/e² Threshold Widths</a:t>
            </a:r>
            <a:r>
              <a:rPr lang="en-US" sz="1500" dirty="0">
                <a:solidFill>
                  <a:srgbClr val="6B7789"/>
                </a:solidFill>
                <a:latin typeface="Calibri" pitchFamily="34" charset="0"/>
                <a:ea typeface="Calibri" pitchFamily="34" charset="-122"/>
                <a:cs typeface="Calibri" pitchFamily="34" charset="-120"/>
              </a:rPr>
              <a:t>  —  direct measurement, no Gaussian assumption required. 13.5% Threshold</a:t>
            </a:r>
            <a:endParaRPr lang="en-US" sz="1500" dirty="0"/>
          </a:p>
        </p:txBody>
      </p:sp>
      <p:sp>
        <p:nvSpPr>
          <p:cNvPr id="16" name="Shape 14"/>
          <p:cNvSpPr/>
          <p:nvPr/>
        </p:nvSpPr>
        <p:spPr>
          <a:xfrm>
            <a:off x="548640" y="3922776"/>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4059936"/>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963924"/>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849624"/>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Gaussian Diameters</a:t>
            </a:r>
            <a:r>
              <a:rPr lang="en-US" sz="1500" dirty="0">
                <a:solidFill>
                  <a:srgbClr val="6B7789"/>
                </a:solidFill>
                <a:latin typeface="Calibri" pitchFamily="34" charset="0"/>
                <a:ea typeface="Calibri" pitchFamily="34" charset="-122"/>
                <a:cs typeface="Calibri" pitchFamily="34" charset="-120"/>
              </a:rPr>
              <a:t>  —  diameter of the fitted Gaussian distribution.</a:t>
            </a:r>
            <a:endParaRPr lang="en-US" sz="1500" dirty="0"/>
          </a:p>
        </p:txBody>
      </p:sp>
      <p:sp>
        <p:nvSpPr>
          <p:cNvPr id="20" name="Shape 18"/>
          <p:cNvSpPr/>
          <p:nvPr/>
        </p:nvSpPr>
        <p:spPr>
          <a:xfrm>
            <a:off x="548640" y="4626864"/>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764024"/>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668012"/>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553712"/>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Fit Shape / R²</a:t>
            </a:r>
            <a:r>
              <a:rPr lang="en-US" sz="1500" dirty="0">
                <a:solidFill>
                  <a:srgbClr val="6B7789"/>
                </a:solidFill>
                <a:latin typeface="Calibri" pitchFamily="34" charset="0"/>
                <a:ea typeface="Calibri" pitchFamily="34" charset="-122"/>
                <a:cs typeface="Calibri" pitchFamily="34" charset="-120"/>
              </a:rPr>
              <a:t>  —  how closely the profile follows a Gaussian curve</a:t>
            </a:r>
            <a:endParaRPr lang="en-US" sz="1500" dirty="0"/>
          </a:p>
        </p:txBody>
      </p:sp>
      <p:sp>
        <p:nvSpPr>
          <p:cNvPr id="30" name="Text 2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31" name="Text 29"/>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21</a:t>
            </a:r>
            <a:endParaRPr lang="en-US" sz="900" dirty="0"/>
          </a:p>
        </p:txBody>
      </p:sp>
      <p:pic>
        <p:nvPicPr>
          <p:cNvPr id="32" name="Picture 31">
            <a:extLst>
              <a:ext uri="{FF2B5EF4-FFF2-40B4-BE49-F238E27FC236}">
                <a16:creationId xmlns:a16="http://schemas.microsoft.com/office/drawing/2014/main" id="{7E0DD39C-1865-4205-1643-B743FD57DC8F}"/>
              </a:ext>
            </a:extLst>
          </p:cNvPr>
          <p:cNvPicPr>
            <a:picLocks noChangeAspect="1"/>
          </p:cNvPicPr>
          <p:nvPr/>
        </p:nvPicPr>
        <p:blipFill>
          <a:blip r:embed="rId3"/>
          <a:srcRect l="34618" t="12353" r="34125" b="37518"/>
          <a:stretch>
            <a:fillRect/>
          </a:stretch>
        </p:blipFill>
        <p:spPr>
          <a:xfrm>
            <a:off x="6693407" y="1481327"/>
            <a:ext cx="4656763" cy="44320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4. CALCULATIONS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Calculations Panel — Position &amp; D4σ</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Centroid position</a:t>
            </a:r>
            <a:r>
              <a:rPr lang="en-US" sz="1500" dirty="0">
                <a:solidFill>
                  <a:srgbClr val="6B7789"/>
                </a:solidFill>
                <a:latin typeface="Calibri" pitchFamily="34" charset="0"/>
                <a:ea typeface="Calibri" pitchFamily="34" charset="-122"/>
                <a:cs typeface="Calibri" pitchFamily="34" charset="-120"/>
              </a:rPr>
              <a:t>  —  intensity-weighted beam center</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Peak position</a:t>
            </a:r>
            <a:r>
              <a:rPr lang="en-US" sz="1500" dirty="0">
                <a:solidFill>
                  <a:srgbClr val="6B7789"/>
                </a:solidFill>
                <a:latin typeface="Calibri" pitchFamily="34" charset="0"/>
                <a:ea typeface="Calibri" pitchFamily="34" charset="-122"/>
                <a:cs typeface="Calibri" pitchFamily="34" charset="-120"/>
              </a:rPr>
              <a:t>  —  location of the single brightest pixel</a:t>
            </a:r>
            <a:endParaRPr lang="en-US" sz="1500" dirty="0"/>
          </a:p>
        </p:txBody>
      </p:sp>
      <p:sp>
        <p:nvSpPr>
          <p:cNvPr id="12" name="Shape 10"/>
          <p:cNvSpPr/>
          <p:nvPr/>
        </p:nvSpPr>
        <p:spPr>
          <a:xfrm>
            <a:off x="542696" y="3273552"/>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3844" y="3410712"/>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79856" y="3314700"/>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18184" y="320040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D4σ diameters</a:t>
            </a:r>
            <a:r>
              <a:rPr lang="en-US" sz="1500" dirty="0">
                <a:solidFill>
                  <a:srgbClr val="6B7789"/>
                </a:solidFill>
                <a:latin typeface="Calibri" pitchFamily="34" charset="0"/>
                <a:ea typeface="Calibri" pitchFamily="34" charset="-122"/>
                <a:cs typeface="Calibri" pitchFamily="34" charset="-120"/>
              </a:rPr>
              <a:t>  —  camera-axis X/Y, plus major/minor axis, orientation, ellipticity</a:t>
            </a:r>
            <a:endParaRPr lang="en-US" sz="1500" dirty="0"/>
          </a:p>
        </p:txBody>
      </p:sp>
      <p:sp>
        <p:nvSpPr>
          <p:cNvPr id="16" name="Shape 14"/>
          <p:cNvSpPr/>
          <p:nvPr/>
        </p:nvSpPr>
        <p:spPr>
          <a:xfrm>
            <a:off x="542696" y="3858768"/>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3844" y="3995928"/>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79856" y="3899916"/>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18184" y="3785616"/>
            <a:ext cx="6471546"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Truncation &amp; validity</a:t>
            </a:r>
            <a:r>
              <a:rPr lang="en-US" sz="1500" dirty="0">
                <a:solidFill>
                  <a:srgbClr val="6B7789"/>
                </a:solidFill>
                <a:latin typeface="Calibri" pitchFamily="34" charset="0"/>
                <a:ea typeface="Calibri" pitchFamily="34" charset="-122"/>
                <a:cs typeface="Calibri" pitchFamily="34" charset="-120"/>
              </a:rPr>
              <a:t>  —  D4σ is highly sensitive to background, edges, and stray light — treat a truncated/invalid flag as unreliable</a:t>
            </a:r>
            <a:endParaRPr lang="en-US" sz="1500" dirty="0"/>
          </a:p>
        </p:txBody>
      </p:sp>
      <p:sp>
        <p:nvSpPr>
          <p:cNvPr id="20" name="Shape 18"/>
          <p:cNvSpPr/>
          <p:nvPr/>
        </p:nvSpPr>
        <p:spPr>
          <a:xfrm>
            <a:off x="542696" y="4562856"/>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3844" y="4700016"/>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79856" y="4604004"/>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18184" y="4489704"/>
            <a:ext cx="6303104"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Treat as Waist</a:t>
            </a:r>
            <a:r>
              <a:rPr lang="en-US" sz="1500" dirty="0">
                <a:solidFill>
                  <a:srgbClr val="6B7789"/>
                </a:solidFill>
                <a:latin typeface="Calibri" pitchFamily="34" charset="0"/>
                <a:ea typeface="Calibri" pitchFamily="34" charset="-122"/>
                <a:cs typeface="Calibri" pitchFamily="34" charset="-120"/>
              </a:rPr>
              <a:t>  —  enables a local divergence estimate — only if the camera is actually at the waist</a:t>
            </a:r>
            <a:endParaRPr lang="en-US" sz="150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5" name="Text 23"/>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22</a:t>
            </a:r>
            <a:endParaRPr lang="en-US" sz="900" dirty="0"/>
          </a:p>
        </p:txBody>
      </p:sp>
      <p:pic>
        <p:nvPicPr>
          <p:cNvPr id="26" name="Picture 25">
            <a:extLst>
              <a:ext uri="{FF2B5EF4-FFF2-40B4-BE49-F238E27FC236}">
                <a16:creationId xmlns:a16="http://schemas.microsoft.com/office/drawing/2014/main" id="{7CCC96D8-A71C-C897-D5E0-C9809C127B7F}"/>
              </a:ext>
            </a:extLst>
          </p:cNvPr>
          <p:cNvPicPr>
            <a:picLocks noChangeAspect="1"/>
          </p:cNvPicPr>
          <p:nvPr/>
        </p:nvPicPr>
        <p:blipFill>
          <a:blip r:embed="rId3"/>
          <a:srcRect l="34700" t="12055" r="34144" b="38116"/>
          <a:stretch>
            <a:fillRect/>
          </a:stretch>
        </p:blipFill>
        <p:spPr>
          <a:xfrm>
            <a:off x="7495673" y="1576137"/>
            <a:ext cx="4153631" cy="3942163"/>
          </a:xfrm>
          <a:prstGeom prst="rect">
            <a:avLst/>
          </a:prstGeom>
        </p:spPr>
      </p:pic>
      <p:sp>
        <p:nvSpPr>
          <p:cNvPr id="27" name="Shape 10">
            <a:extLst>
              <a:ext uri="{FF2B5EF4-FFF2-40B4-BE49-F238E27FC236}">
                <a16:creationId xmlns:a16="http://schemas.microsoft.com/office/drawing/2014/main" id="{B1D8953C-F650-DE5D-23FB-C73BDD9E0427}"/>
              </a:ext>
            </a:extLst>
          </p:cNvPr>
          <p:cNvSpPr/>
          <p:nvPr/>
        </p:nvSpPr>
        <p:spPr>
          <a:xfrm>
            <a:off x="542696" y="2870782"/>
            <a:ext cx="274320" cy="274320"/>
          </a:xfrm>
          <a:prstGeom prst="ellipse">
            <a:avLst/>
          </a:prstGeom>
          <a:solidFill>
            <a:srgbClr val="E63946"/>
          </a:solidFill>
          <a:ln w="12700">
            <a:solidFill>
              <a:srgbClr val="E63946"/>
            </a:solidFill>
            <a:prstDash val="solid"/>
          </a:ln>
        </p:spPr>
        <p:txBody>
          <a:bodyPr/>
          <a:lstStyle/>
          <a:p>
            <a:endParaRPr lang="en-US"/>
          </a:p>
        </p:txBody>
      </p:sp>
      <p:sp>
        <p:nvSpPr>
          <p:cNvPr id="28" name="Shape 11">
            <a:extLst>
              <a:ext uri="{FF2B5EF4-FFF2-40B4-BE49-F238E27FC236}">
                <a16:creationId xmlns:a16="http://schemas.microsoft.com/office/drawing/2014/main" id="{C659A74D-8220-7FFB-353A-04302FFFD081}"/>
              </a:ext>
            </a:extLst>
          </p:cNvPr>
          <p:cNvSpPr/>
          <p:nvPr/>
        </p:nvSpPr>
        <p:spPr>
          <a:xfrm>
            <a:off x="583844" y="3007942"/>
            <a:ext cx="192024" cy="0"/>
          </a:xfrm>
          <a:prstGeom prst="line">
            <a:avLst/>
          </a:prstGeom>
          <a:noFill/>
          <a:ln w="19050">
            <a:solidFill>
              <a:srgbClr val="FFFFFF"/>
            </a:solidFill>
            <a:prstDash val="solid"/>
          </a:ln>
        </p:spPr>
        <p:txBody>
          <a:bodyPr/>
          <a:lstStyle/>
          <a:p>
            <a:endParaRPr lang="en-US"/>
          </a:p>
        </p:txBody>
      </p:sp>
      <p:sp>
        <p:nvSpPr>
          <p:cNvPr id="29" name="Shape 12">
            <a:extLst>
              <a:ext uri="{FF2B5EF4-FFF2-40B4-BE49-F238E27FC236}">
                <a16:creationId xmlns:a16="http://schemas.microsoft.com/office/drawing/2014/main" id="{BC0F5490-2323-0F9B-75C7-CBD8E0047CA5}"/>
              </a:ext>
            </a:extLst>
          </p:cNvPr>
          <p:cNvSpPr/>
          <p:nvPr/>
        </p:nvSpPr>
        <p:spPr>
          <a:xfrm>
            <a:off x="679856" y="2911930"/>
            <a:ext cx="0" cy="192024"/>
          </a:xfrm>
          <a:prstGeom prst="line">
            <a:avLst/>
          </a:prstGeom>
          <a:noFill/>
          <a:ln w="19050">
            <a:solidFill>
              <a:srgbClr val="FFFFFF"/>
            </a:solidFill>
            <a:prstDash val="solid"/>
          </a:ln>
        </p:spPr>
        <p:txBody>
          <a:bodyPr/>
          <a:lstStyle/>
          <a:p>
            <a:endParaRPr lang="en-US"/>
          </a:p>
        </p:txBody>
      </p:sp>
      <p:sp>
        <p:nvSpPr>
          <p:cNvPr id="30" name="Text 13">
            <a:extLst>
              <a:ext uri="{FF2B5EF4-FFF2-40B4-BE49-F238E27FC236}">
                <a16:creationId xmlns:a16="http://schemas.microsoft.com/office/drawing/2014/main" id="{CDF6431A-2660-74D4-5AE7-8AE71E015B56}"/>
              </a:ext>
            </a:extLst>
          </p:cNvPr>
          <p:cNvSpPr/>
          <p:nvPr/>
        </p:nvSpPr>
        <p:spPr>
          <a:xfrm>
            <a:off x="1018184" y="279763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FWHM</a:t>
            </a:r>
            <a:r>
              <a:rPr lang="en-US" sz="1500" dirty="0">
                <a:solidFill>
                  <a:srgbClr val="6B7789"/>
                </a:solidFill>
                <a:latin typeface="Calibri" pitchFamily="34" charset="0"/>
                <a:ea typeface="Calibri" pitchFamily="34" charset="-122"/>
                <a:cs typeface="Calibri" pitchFamily="34" charset="-120"/>
              </a:rPr>
              <a:t>  —  full width at half maximum 50% threshold beam width</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4. CALCULATIONS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Calculations Panel — Power &amp; Logging</a:t>
            </a:r>
            <a:endParaRPr lang="en-US" sz="3200" dirty="0"/>
          </a:p>
        </p:txBody>
      </p:sp>
      <p:sp>
        <p:nvSpPr>
          <p:cNvPr id="4" name="Shape 2"/>
          <p:cNvSpPr/>
          <p:nvPr/>
        </p:nvSpPr>
        <p:spPr>
          <a:xfrm>
            <a:off x="548640" y="2169688"/>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2306848"/>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2210836"/>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209653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Power readout</a:t>
            </a:r>
            <a:r>
              <a:rPr lang="en-US" sz="1500" dirty="0">
                <a:solidFill>
                  <a:srgbClr val="6B7789"/>
                </a:solidFill>
                <a:latin typeface="Calibri" pitchFamily="34" charset="0"/>
                <a:ea typeface="Calibri" pitchFamily="34" charset="-122"/>
                <a:cs typeface="Calibri" pitchFamily="34" charset="-120"/>
              </a:rPr>
              <a:t>  —  µW / mW / dBm — requires a calibration factor entered in Advanced Settings</a:t>
            </a:r>
            <a:endParaRPr lang="en-US" sz="1500" dirty="0"/>
          </a:p>
        </p:txBody>
      </p:sp>
      <p:sp>
        <p:nvSpPr>
          <p:cNvPr id="8" name="Shape 6"/>
          <p:cNvSpPr/>
          <p:nvPr/>
        </p:nvSpPr>
        <p:spPr>
          <a:xfrm>
            <a:off x="548640" y="2873776"/>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3010936"/>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914924"/>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800624"/>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Wavelength alone ≈ no calibration</a:t>
            </a:r>
            <a:r>
              <a:rPr lang="en-US" sz="1500" dirty="0">
                <a:solidFill>
                  <a:srgbClr val="6B7789"/>
                </a:solidFill>
                <a:latin typeface="Calibri" pitchFamily="34" charset="0"/>
                <a:ea typeface="Calibri" pitchFamily="34" charset="-122"/>
                <a:cs typeface="Calibri" pitchFamily="34" charset="-120"/>
              </a:rPr>
              <a:t>  —  entering it does not calibrate camera responsivity</a:t>
            </a:r>
            <a:endParaRPr lang="en-US" sz="1500" dirty="0"/>
          </a:p>
        </p:txBody>
      </p:sp>
      <p:sp>
        <p:nvSpPr>
          <p:cNvPr id="12" name="Shape 10"/>
          <p:cNvSpPr/>
          <p:nvPr/>
        </p:nvSpPr>
        <p:spPr>
          <a:xfrm>
            <a:off x="548640" y="3577864"/>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715024"/>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619012"/>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504712"/>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Start Logging</a:t>
            </a:r>
            <a:r>
              <a:rPr lang="en-US" sz="1500" dirty="0">
                <a:solidFill>
                  <a:srgbClr val="6B7789"/>
                </a:solidFill>
                <a:latin typeface="Calibri" pitchFamily="34" charset="0"/>
                <a:ea typeface="Calibri" pitchFamily="34" charset="-122"/>
                <a:cs typeface="Calibri" pitchFamily="34" charset="-120"/>
              </a:rPr>
              <a:t>  —  creates a timestamped CSV and records measurements periodically</a:t>
            </a:r>
            <a:endParaRPr lang="en-US" sz="1500" dirty="0"/>
          </a:p>
        </p:txBody>
      </p:sp>
      <p:sp>
        <p:nvSpPr>
          <p:cNvPr id="16" name="Shape 14"/>
          <p:cNvSpPr/>
          <p:nvPr/>
        </p:nvSpPr>
        <p:spPr>
          <a:xfrm>
            <a:off x="548640" y="4281952"/>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4419112"/>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4323100"/>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420880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Stop before closing</a:t>
            </a:r>
            <a:r>
              <a:rPr lang="en-US" sz="1500" dirty="0">
                <a:solidFill>
                  <a:srgbClr val="6B7789"/>
                </a:solidFill>
                <a:latin typeface="Calibri" pitchFamily="34" charset="0"/>
                <a:ea typeface="Calibri" pitchFamily="34" charset="-122"/>
                <a:cs typeface="Calibri" pitchFamily="34" charset="-120"/>
              </a:rPr>
              <a:t>  —  stop logging before closing/moving the file so it finalizes correctly</a:t>
            </a:r>
            <a:endParaRPr lang="en-US" sz="1500" dirty="0"/>
          </a:p>
        </p:txBody>
      </p:sp>
      <p:sp>
        <p:nvSpPr>
          <p:cNvPr id="26" name="Text 2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7" name="Text 2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23</a:t>
            </a:r>
            <a:endParaRPr lang="en-US" sz="900" dirty="0"/>
          </a:p>
        </p:txBody>
      </p:sp>
      <p:pic>
        <p:nvPicPr>
          <p:cNvPr id="28" name="Picture 27">
            <a:extLst>
              <a:ext uri="{FF2B5EF4-FFF2-40B4-BE49-F238E27FC236}">
                <a16:creationId xmlns:a16="http://schemas.microsoft.com/office/drawing/2014/main" id="{B3BFFC08-18AF-1783-FC22-8E7311A83253}"/>
              </a:ext>
            </a:extLst>
          </p:cNvPr>
          <p:cNvPicPr>
            <a:picLocks noChangeAspect="1"/>
          </p:cNvPicPr>
          <p:nvPr/>
        </p:nvPicPr>
        <p:blipFill>
          <a:blip r:embed="rId3"/>
          <a:srcRect t="9988" r="8579" b="11571"/>
          <a:stretch>
            <a:fillRect/>
          </a:stretch>
        </p:blipFill>
        <p:spPr>
          <a:xfrm>
            <a:off x="1759106" y="-4691768"/>
            <a:ext cx="8522958" cy="4339724"/>
          </a:xfrm>
          <a:prstGeom prst="rect">
            <a:avLst/>
          </a:prstGeom>
        </p:spPr>
      </p:pic>
      <p:pic>
        <p:nvPicPr>
          <p:cNvPr id="29" name="Picture 28">
            <a:extLst>
              <a:ext uri="{FF2B5EF4-FFF2-40B4-BE49-F238E27FC236}">
                <a16:creationId xmlns:a16="http://schemas.microsoft.com/office/drawing/2014/main" id="{75648985-76E3-B3B8-8D34-C0ECDC5C0D07}"/>
              </a:ext>
            </a:extLst>
          </p:cNvPr>
          <p:cNvPicPr>
            <a:picLocks noChangeAspect="1"/>
          </p:cNvPicPr>
          <p:nvPr/>
        </p:nvPicPr>
        <p:blipFill>
          <a:blip r:embed="rId3"/>
          <a:srcRect l="34700" t="12055" r="34144" b="38116"/>
          <a:stretch>
            <a:fillRect/>
          </a:stretch>
        </p:blipFill>
        <p:spPr>
          <a:xfrm>
            <a:off x="6873503" y="1457918"/>
            <a:ext cx="4153631" cy="3942163"/>
          </a:xfrm>
          <a:prstGeom prst="rect">
            <a:avLst/>
          </a:prstGeom>
        </p:spPr>
      </p:pic>
      <p:sp>
        <p:nvSpPr>
          <p:cNvPr id="30" name="Shape 2">
            <a:extLst>
              <a:ext uri="{FF2B5EF4-FFF2-40B4-BE49-F238E27FC236}">
                <a16:creationId xmlns:a16="http://schemas.microsoft.com/office/drawing/2014/main" id="{63E9CDCF-2470-41EF-7B99-E0E262E13EE2}"/>
              </a:ext>
            </a:extLst>
          </p:cNvPr>
          <p:cNvSpPr/>
          <p:nvPr/>
        </p:nvSpPr>
        <p:spPr>
          <a:xfrm>
            <a:off x="548640" y="1589044"/>
            <a:ext cx="274320" cy="274320"/>
          </a:xfrm>
          <a:prstGeom prst="ellipse">
            <a:avLst/>
          </a:prstGeom>
          <a:solidFill>
            <a:srgbClr val="E63946"/>
          </a:solidFill>
          <a:ln w="12700">
            <a:solidFill>
              <a:srgbClr val="E63946"/>
            </a:solidFill>
            <a:prstDash val="solid"/>
          </a:ln>
        </p:spPr>
        <p:txBody>
          <a:bodyPr/>
          <a:lstStyle/>
          <a:p>
            <a:endParaRPr lang="en-US"/>
          </a:p>
        </p:txBody>
      </p:sp>
      <p:sp>
        <p:nvSpPr>
          <p:cNvPr id="31" name="Shape 3">
            <a:extLst>
              <a:ext uri="{FF2B5EF4-FFF2-40B4-BE49-F238E27FC236}">
                <a16:creationId xmlns:a16="http://schemas.microsoft.com/office/drawing/2014/main" id="{69EA2767-D8BF-798B-EF4F-FC084FA4810F}"/>
              </a:ext>
            </a:extLst>
          </p:cNvPr>
          <p:cNvSpPr/>
          <p:nvPr/>
        </p:nvSpPr>
        <p:spPr>
          <a:xfrm>
            <a:off x="589788" y="1726204"/>
            <a:ext cx="192024" cy="0"/>
          </a:xfrm>
          <a:prstGeom prst="line">
            <a:avLst/>
          </a:prstGeom>
          <a:noFill/>
          <a:ln w="19050">
            <a:solidFill>
              <a:srgbClr val="FFFFFF"/>
            </a:solidFill>
            <a:prstDash val="solid"/>
          </a:ln>
        </p:spPr>
        <p:txBody>
          <a:bodyPr/>
          <a:lstStyle/>
          <a:p>
            <a:endParaRPr lang="en-US"/>
          </a:p>
        </p:txBody>
      </p:sp>
      <p:sp>
        <p:nvSpPr>
          <p:cNvPr id="32" name="Shape 4">
            <a:extLst>
              <a:ext uri="{FF2B5EF4-FFF2-40B4-BE49-F238E27FC236}">
                <a16:creationId xmlns:a16="http://schemas.microsoft.com/office/drawing/2014/main" id="{CB64BFAB-B556-8A19-114B-CD9EE9893CFF}"/>
              </a:ext>
            </a:extLst>
          </p:cNvPr>
          <p:cNvSpPr/>
          <p:nvPr/>
        </p:nvSpPr>
        <p:spPr>
          <a:xfrm>
            <a:off x="685800" y="1630192"/>
            <a:ext cx="0" cy="192024"/>
          </a:xfrm>
          <a:prstGeom prst="line">
            <a:avLst/>
          </a:prstGeom>
          <a:noFill/>
          <a:ln w="19050">
            <a:solidFill>
              <a:srgbClr val="FFFFFF"/>
            </a:solidFill>
            <a:prstDash val="solid"/>
          </a:ln>
        </p:spPr>
        <p:txBody>
          <a:bodyPr/>
          <a:lstStyle/>
          <a:p>
            <a:endParaRPr lang="en-US"/>
          </a:p>
        </p:txBody>
      </p:sp>
      <p:sp>
        <p:nvSpPr>
          <p:cNvPr id="33" name="Text 5">
            <a:extLst>
              <a:ext uri="{FF2B5EF4-FFF2-40B4-BE49-F238E27FC236}">
                <a16:creationId xmlns:a16="http://schemas.microsoft.com/office/drawing/2014/main" id="{E2E55DE5-F7E4-3547-6605-CEB4E76A576D}"/>
              </a:ext>
            </a:extLst>
          </p:cNvPr>
          <p:cNvSpPr/>
          <p:nvPr/>
        </p:nvSpPr>
        <p:spPr>
          <a:xfrm>
            <a:off x="1024128" y="1515892"/>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Signal quality</a:t>
            </a:r>
            <a:r>
              <a:rPr lang="en-US" sz="1500" dirty="0">
                <a:solidFill>
                  <a:srgbClr val="6B7789"/>
                </a:solidFill>
                <a:latin typeface="Calibri" pitchFamily="34" charset="0"/>
                <a:ea typeface="Calibri" pitchFamily="34" charset="-122"/>
                <a:cs typeface="Calibri" pitchFamily="34" charset="-120"/>
              </a:rPr>
              <a:t>  —  SNR (Signal to noise ratio), peak intensities (bit-depth dependent)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5. ADVANCED SETTINGS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Advanced Settings Panel — Dark Frame Workflow</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Capture Dark (8 frames)</a:t>
            </a:r>
            <a:r>
              <a:rPr lang="en-US" sz="1500" dirty="0">
                <a:solidFill>
                  <a:srgbClr val="6B7789"/>
                </a:solidFill>
                <a:latin typeface="Calibri" pitchFamily="34" charset="0"/>
                <a:ea typeface="Calibri" pitchFamily="34" charset="-122"/>
                <a:cs typeface="Calibri" pitchFamily="34" charset="-120"/>
              </a:rPr>
              <a:t>  —  block all light, keep settings unchanged, then capture</a:t>
            </a:r>
            <a:endParaRPr lang="en-US" sz="1500" dirty="0"/>
          </a:p>
        </p:txBody>
      </p:sp>
      <p:sp>
        <p:nvSpPr>
          <p:cNvPr id="8" name="Shape 6"/>
          <p:cNvSpPr/>
          <p:nvPr/>
        </p:nvSpPr>
        <p:spPr>
          <a:xfrm>
            <a:off x="548640" y="251460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5176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5574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41448"/>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Apply Dark Subtraction</a:t>
            </a:r>
            <a:r>
              <a:rPr lang="en-US" sz="1500" dirty="0">
                <a:solidFill>
                  <a:srgbClr val="6B7789"/>
                </a:solidFill>
                <a:latin typeface="Calibri" pitchFamily="34" charset="0"/>
                <a:ea typeface="Calibri" pitchFamily="34" charset="-122"/>
                <a:cs typeface="Calibri" pitchFamily="34" charset="-120"/>
              </a:rPr>
              <a:t>  —  subtracts the stored dark frame before analysis</a:t>
            </a:r>
            <a:endParaRPr lang="en-US" sz="1500" dirty="0"/>
          </a:p>
        </p:txBody>
      </p:sp>
      <p:sp>
        <p:nvSpPr>
          <p:cNvPr id="12" name="Shape 10"/>
          <p:cNvSpPr/>
          <p:nvPr/>
        </p:nvSpPr>
        <p:spPr>
          <a:xfrm>
            <a:off x="548640" y="3218688"/>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355848"/>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259836"/>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145536"/>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Automatic rejection</a:t>
            </a:r>
            <a:r>
              <a:rPr lang="en-US" sz="1500" dirty="0">
                <a:solidFill>
                  <a:srgbClr val="6B7789"/>
                </a:solidFill>
                <a:latin typeface="Calibri" pitchFamily="34" charset="0"/>
                <a:ea typeface="Calibri" pitchFamily="34" charset="-122"/>
                <a:cs typeface="Calibri" pitchFamily="34" charset="-120"/>
              </a:rPr>
              <a:t>  —  a mismatched dark frame (changed exposure/gain/resolution/camera) is flagged invalid</a:t>
            </a:r>
            <a:endParaRPr lang="en-US" sz="1500" dirty="0"/>
          </a:p>
        </p:txBody>
      </p:sp>
      <p:sp>
        <p:nvSpPr>
          <p:cNvPr id="16" name="Shape 14"/>
          <p:cNvSpPr/>
          <p:nvPr/>
        </p:nvSpPr>
        <p:spPr>
          <a:xfrm>
            <a:off x="548640" y="4174236"/>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4311396"/>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4215384"/>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4101084"/>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Recapture after changes</a:t>
            </a:r>
            <a:r>
              <a:rPr lang="en-US" sz="1500" dirty="0">
                <a:solidFill>
                  <a:srgbClr val="6B7789"/>
                </a:solidFill>
                <a:latin typeface="Calibri" pitchFamily="34" charset="0"/>
                <a:ea typeface="Calibri" pitchFamily="34" charset="-122"/>
                <a:cs typeface="Calibri" pitchFamily="34" charset="-120"/>
              </a:rPr>
              <a:t>  —  any time exposure, gain, pixel format, resolution, or camera changes</a:t>
            </a:r>
            <a:endParaRPr lang="en-US" sz="1500" dirty="0"/>
          </a:p>
        </p:txBody>
      </p:sp>
      <p:sp>
        <p:nvSpPr>
          <p:cNvPr id="26" name="Text 2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7" name="Text 2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24</a:t>
            </a:r>
            <a:endParaRPr lang="en-US" sz="900" dirty="0"/>
          </a:p>
        </p:txBody>
      </p:sp>
      <p:pic>
        <p:nvPicPr>
          <p:cNvPr id="28" name="Picture 27">
            <a:extLst>
              <a:ext uri="{FF2B5EF4-FFF2-40B4-BE49-F238E27FC236}">
                <a16:creationId xmlns:a16="http://schemas.microsoft.com/office/drawing/2014/main" id="{41FB67C4-7C58-50F8-DB25-BA489E785181}"/>
              </a:ext>
            </a:extLst>
          </p:cNvPr>
          <p:cNvPicPr>
            <a:picLocks noChangeAspect="1"/>
          </p:cNvPicPr>
          <p:nvPr/>
        </p:nvPicPr>
        <p:blipFill>
          <a:blip r:embed="rId3"/>
          <a:srcRect t="9988" r="8579" b="11571"/>
          <a:stretch>
            <a:fillRect/>
          </a:stretch>
        </p:blipFill>
        <p:spPr>
          <a:xfrm>
            <a:off x="2337210" y="-4428430"/>
            <a:ext cx="8522958" cy="4339724"/>
          </a:xfrm>
          <a:prstGeom prst="rect">
            <a:avLst/>
          </a:prstGeom>
        </p:spPr>
      </p:pic>
      <p:pic>
        <p:nvPicPr>
          <p:cNvPr id="29" name="Picture 28">
            <a:extLst>
              <a:ext uri="{FF2B5EF4-FFF2-40B4-BE49-F238E27FC236}">
                <a16:creationId xmlns:a16="http://schemas.microsoft.com/office/drawing/2014/main" id="{F9BE7122-83F2-B9A6-2AD3-B2B47F44B2CB}"/>
              </a:ext>
            </a:extLst>
          </p:cNvPr>
          <p:cNvPicPr>
            <a:picLocks noChangeAspect="1"/>
          </p:cNvPicPr>
          <p:nvPr/>
        </p:nvPicPr>
        <p:blipFill>
          <a:blip r:embed="rId4"/>
          <a:srcRect l="34349" t="12026" r="43335" b="20536"/>
          <a:stretch>
            <a:fillRect/>
          </a:stretch>
        </p:blipFill>
        <p:spPr>
          <a:xfrm>
            <a:off x="6598689" y="1405442"/>
            <a:ext cx="2873924" cy="51619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5. ADVANCED SETTINGS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Advanced Settings — Performance &amp; Analysis</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3013616"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Minimum Peak SNR</a:t>
            </a:r>
            <a:r>
              <a:rPr lang="en-US" sz="1300" dirty="0">
                <a:solidFill>
                  <a:srgbClr val="6B7789"/>
                </a:solidFill>
                <a:latin typeface="Calibri" pitchFamily="34" charset="0"/>
                <a:ea typeface="Calibri" pitchFamily="34" charset="-122"/>
                <a:cs typeface="Calibri" pitchFamily="34" charset="-120"/>
              </a:rPr>
              <a:t>  —  signal-quality acceptance threshold</a:t>
            </a:r>
            <a:endParaRPr lang="en-US" sz="1300" dirty="0"/>
          </a:p>
        </p:txBody>
      </p:sp>
      <p:sp>
        <p:nvSpPr>
          <p:cNvPr id="8" name="Shape 6"/>
          <p:cNvSpPr/>
          <p:nvPr/>
        </p:nvSpPr>
        <p:spPr>
          <a:xfrm>
            <a:off x="548640" y="2447544"/>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84704"/>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88692"/>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74392"/>
            <a:ext cx="3013616"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Mask isolated hot pixels</a:t>
            </a:r>
            <a:r>
              <a:rPr lang="en-US" sz="1300" dirty="0">
                <a:solidFill>
                  <a:srgbClr val="6B7789"/>
                </a:solidFill>
                <a:latin typeface="Calibri" pitchFamily="34" charset="0"/>
                <a:ea typeface="Calibri" pitchFamily="34" charset="-122"/>
                <a:cs typeface="Calibri" pitchFamily="34" charset="-120"/>
              </a:rPr>
              <a:t>  —  excludes defective pixels from analysis</a:t>
            </a:r>
            <a:endParaRPr lang="en-US" sz="1300" dirty="0"/>
          </a:p>
        </p:txBody>
      </p:sp>
      <p:sp>
        <p:nvSpPr>
          <p:cNvPr id="12" name="Shape 10"/>
          <p:cNvSpPr/>
          <p:nvPr/>
        </p:nvSpPr>
        <p:spPr>
          <a:xfrm>
            <a:off x="548640" y="3084576"/>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221736"/>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125724"/>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011424"/>
            <a:ext cx="3013616"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Enable D4σ / bg / hot-pixel analysis</a:t>
            </a:r>
            <a:r>
              <a:rPr lang="en-US" sz="1300" dirty="0">
                <a:solidFill>
                  <a:srgbClr val="6B7789"/>
                </a:solidFill>
                <a:latin typeface="Calibri" pitchFamily="34" charset="0"/>
                <a:ea typeface="Calibri" pitchFamily="34" charset="-122"/>
                <a:cs typeface="Calibri" pitchFamily="34" charset="-120"/>
              </a:rPr>
              <a:t>  —  toggle the heavier diagnostics for speed</a:t>
            </a:r>
            <a:endParaRPr lang="en-US" sz="1300" dirty="0"/>
          </a:p>
        </p:txBody>
      </p:sp>
      <p:sp>
        <p:nvSpPr>
          <p:cNvPr id="16" name="Shape 14"/>
          <p:cNvSpPr/>
          <p:nvPr/>
        </p:nvSpPr>
        <p:spPr>
          <a:xfrm>
            <a:off x="548640" y="3721608"/>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3858768"/>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3762756"/>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3648456"/>
            <a:ext cx="3013616"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Gaussian Fit Threshold (R²)</a:t>
            </a:r>
            <a:r>
              <a:rPr lang="en-US" sz="1300" dirty="0">
                <a:solidFill>
                  <a:srgbClr val="6B7789"/>
                </a:solidFill>
                <a:latin typeface="Calibri" pitchFamily="34" charset="0"/>
                <a:ea typeface="Calibri" pitchFamily="34" charset="-122"/>
                <a:cs typeface="Calibri" pitchFamily="34" charset="-120"/>
              </a:rPr>
              <a:t>  —  minimum quality before a Gaussian result is trusted</a:t>
            </a:r>
            <a:endParaRPr lang="en-US" sz="1300" dirty="0"/>
          </a:p>
        </p:txBody>
      </p:sp>
      <p:sp>
        <p:nvSpPr>
          <p:cNvPr id="20" name="Shape 18"/>
          <p:cNvSpPr/>
          <p:nvPr/>
        </p:nvSpPr>
        <p:spPr>
          <a:xfrm>
            <a:off x="548640" y="4358640"/>
            <a:ext cx="274320" cy="274320"/>
          </a:xfrm>
          <a:prstGeom prst="ellipse">
            <a:avLst/>
          </a:prstGeom>
          <a:solidFill>
            <a:srgbClr val="E63946"/>
          </a:solidFill>
          <a:ln w="12700">
            <a:solidFill>
              <a:srgbClr val="E63946"/>
            </a:solidFill>
            <a:prstDash val="solid"/>
          </a:ln>
        </p:spPr>
        <p:txBody>
          <a:bodyPr/>
          <a:lstStyle/>
          <a:p>
            <a:endParaRPr lang="en-US"/>
          </a:p>
        </p:txBody>
      </p:sp>
      <p:sp>
        <p:nvSpPr>
          <p:cNvPr id="21" name="Shape 19"/>
          <p:cNvSpPr/>
          <p:nvPr/>
        </p:nvSpPr>
        <p:spPr>
          <a:xfrm>
            <a:off x="589788" y="4495800"/>
            <a:ext cx="192024" cy="0"/>
          </a:xfrm>
          <a:prstGeom prst="line">
            <a:avLst/>
          </a:prstGeom>
          <a:noFill/>
          <a:ln w="19050">
            <a:solidFill>
              <a:srgbClr val="FFFFFF"/>
            </a:solidFill>
            <a:prstDash val="solid"/>
          </a:ln>
        </p:spPr>
        <p:txBody>
          <a:bodyPr/>
          <a:lstStyle/>
          <a:p>
            <a:endParaRPr lang="en-US"/>
          </a:p>
        </p:txBody>
      </p:sp>
      <p:sp>
        <p:nvSpPr>
          <p:cNvPr id="22" name="Shape 20"/>
          <p:cNvSpPr/>
          <p:nvPr/>
        </p:nvSpPr>
        <p:spPr>
          <a:xfrm>
            <a:off x="685800" y="4399788"/>
            <a:ext cx="0" cy="192024"/>
          </a:xfrm>
          <a:prstGeom prst="line">
            <a:avLst/>
          </a:prstGeom>
          <a:noFill/>
          <a:ln w="19050">
            <a:solidFill>
              <a:srgbClr val="FFFFFF"/>
            </a:solidFill>
            <a:prstDash val="solid"/>
          </a:ln>
        </p:spPr>
        <p:txBody>
          <a:bodyPr/>
          <a:lstStyle/>
          <a:p>
            <a:endParaRPr lang="en-US"/>
          </a:p>
        </p:txBody>
      </p:sp>
      <p:sp>
        <p:nvSpPr>
          <p:cNvPr id="23" name="Text 21"/>
          <p:cNvSpPr/>
          <p:nvPr/>
        </p:nvSpPr>
        <p:spPr>
          <a:xfrm>
            <a:off x="1024128" y="4285488"/>
            <a:ext cx="3013616"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Max Display Rate / Averaged Frames</a:t>
            </a:r>
            <a:r>
              <a:rPr lang="en-US" sz="1300" dirty="0">
                <a:solidFill>
                  <a:srgbClr val="6B7789"/>
                </a:solidFill>
                <a:latin typeface="Calibri" pitchFamily="34" charset="0"/>
                <a:ea typeface="Calibri" pitchFamily="34" charset="-122"/>
                <a:cs typeface="Calibri" pitchFamily="34" charset="-120"/>
              </a:rPr>
              <a:t>  —  refresh cap; 1–20 frame averaging</a:t>
            </a:r>
            <a:endParaRPr lang="en-US" sz="1300" dirty="0"/>
          </a:p>
        </p:txBody>
      </p:sp>
      <p:sp>
        <p:nvSpPr>
          <p:cNvPr id="24" name="Shape 22"/>
          <p:cNvSpPr/>
          <p:nvPr/>
        </p:nvSpPr>
        <p:spPr>
          <a:xfrm>
            <a:off x="4037744"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25" name="Shape 23"/>
          <p:cNvSpPr/>
          <p:nvPr/>
        </p:nvSpPr>
        <p:spPr>
          <a:xfrm>
            <a:off x="4078892" y="1947672"/>
            <a:ext cx="192024" cy="0"/>
          </a:xfrm>
          <a:prstGeom prst="line">
            <a:avLst/>
          </a:prstGeom>
          <a:noFill/>
          <a:ln w="19050">
            <a:solidFill>
              <a:srgbClr val="FFFFFF"/>
            </a:solidFill>
            <a:prstDash val="solid"/>
          </a:ln>
        </p:spPr>
        <p:txBody>
          <a:bodyPr/>
          <a:lstStyle/>
          <a:p>
            <a:endParaRPr lang="en-US"/>
          </a:p>
        </p:txBody>
      </p:sp>
      <p:sp>
        <p:nvSpPr>
          <p:cNvPr id="26" name="Shape 24"/>
          <p:cNvSpPr/>
          <p:nvPr/>
        </p:nvSpPr>
        <p:spPr>
          <a:xfrm>
            <a:off x="4174904" y="1851660"/>
            <a:ext cx="0" cy="192024"/>
          </a:xfrm>
          <a:prstGeom prst="line">
            <a:avLst/>
          </a:prstGeom>
          <a:noFill/>
          <a:ln w="19050">
            <a:solidFill>
              <a:srgbClr val="FFFFFF"/>
            </a:solidFill>
            <a:prstDash val="solid"/>
          </a:ln>
        </p:spPr>
        <p:txBody>
          <a:bodyPr/>
          <a:lstStyle/>
          <a:p>
            <a:endParaRPr lang="en-US"/>
          </a:p>
        </p:txBody>
      </p:sp>
      <p:sp>
        <p:nvSpPr>
          <p:cNvPr id="27" name="Text 25"/>
          <p:cNvSpPr/>
          <p:nvPr/>
        </p:nvSpPr>
        <p:spPr>
          <a:xfrm>
            <a:off x="4513232" y="1737360"/>
            <a:ext cx="3531433"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Restrict Calculation Area</a:t>
            </a:r>
            <a:r>
              <a:rPr lang="en-US" sz="1300" dirty="0">
                <a:solidFill>
                  <a:srgbClr val="6B7789"/>
                </a:solidFill>
                <a:latin typeface="Calibri" pitchFamily="34" charset="0"/>
                <a:ea typeface="Calibri" pitchFamily="34" charset="-122"/>
                <a:cs typeface="Calibri" pitchFamily="34" charset="-120"/>
              </a:rPr>
              <a:t>  —  must stay large enough for the full beam + tails</a:t>
            </a:r>
            <a:endParaRPr lang="en-US" sz="1300" dirty="0"/>
          </a:p>
        </p:txBody>
      </p:sp>
      <p:sp>
        <p:nvSpPr>
          <p:cNvPr id="28" name="Shape 26"/>
          <p:cNvSpPr/>
          <p:nvPr/>
        </p:nvSpPr>
        <p:spPr>
          <a:xfrm>
            <a:off x="4037744" y="2447544"/>
            <a:ext cx="274320" cy="274320"/>
          </a:xfrm>
          <a:prstGeom prst="ellipse">
            <a:avLst/>
          </a:prstGeom>
          <a:solidFill>
            <a:srgbClr val="E63946"/>
          </a:solidFill>
          <a:ln w="12700">
            <a:solidFill>
              <a:srgbClr val="E63946"/>
            </a:solidFill>
            <a:prstDash val="solid"/>
          </a:ln>
        </p:spPr>
        <p:txBody>
          <a:bodyPr/>
          <a:lstStyle/>
          <a:p>
            <a:endParaRPr lang="en-US"/>
          </a:p>
        </p:txBody>
      </p:sp>
      <p:sp>
        <p:nvSpPr>
          <p:cNvPr id="29" name="Shape 27"/>
          <p:cNvSpPr/>
          <p:nvPr/>
        </p:nvSpPr>
        <p:spPr>
          <a:xfrm>
            <a:off x="4078892" y="2584704"/>
            <a:ext cx="192024" cy="0"/>
          </a:xfrm>
          <a:prstGeom prst="line">
            <a:avLst/>
          </a:prstGeom>
          <a:noFill/>
          <a:ln w="19050">
            <a:solidFill>
              <a:srgbClr val="FFFFFF"/>
            </a:solidFill>
            <a:prstDash val="solid"/>
          </a:ln>
        </p:spPr>
        <p:txBody>
          <a:bodyPr/>
          <a:lstStyle/>
          <a:p>
            <a:endParaRPr lang="en-US"/>
          </a:p>
        </p:txBody>
      </p:sp>
      <p:sp>
        <p:nvSpPr>
          <p:cNvPr id="30" name="Shape 28"/>
          <p:cNvSpPr/>
          <p:nvPr/>
        </p:nvSpPr>
        <p:spPr>
          <a:xfrm>
            <a:off x="4174904" y="2488692"/>
            <a:ext cx="0" cy="192024"/>
          </a:xfrm>
          <a:prstGeom prst="line">
            <a:avLst/>
          </a:prstGeom>
          <a:noFill/>
          <a:ln w="19050">
            <a:solidFill>
              <a:srgbClr val="FFFFFF"/>
            </a:solidFill>
            <a:prstDash val="solid"/>
          </a:ln>
        </p:spPr>
        <p:txBody>
          <a:bodyPr/>
          <a:lstStyle/>
          <a:p>
            <a:endParaRPr lang="en-US"/>
          </a:p>
        </p:txBody>
      </p:sp>
      <p:sp>
        <p:nvSpPr>
          <p:cNvPr id="31" name="Text 29"/>
          <p:cNvSpPr/>
          <p:nvPr/>
        </p:nvSpPr>
        <p:spPr>
          <a:xfrm>
            <a:off x="4513232" y="2374392"/>
            <a:ext cx="3531433"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Clip Level</a:t>
            </a:r>
            <a:r>
              <a:rPr lang="en-US" sz="1300" dirty="0">
                <a:solidFill>
                  <a:srgbClr val="6B7789"/>
                </a:solidFill>
                <a:latin typeface="Calibri" pitchFamily="34" charset="0"/>
                <a:ea typeface="Calibri" pitchFamily="34" charset="-122"/>
                <a:cs typeface="Calibri" pitchFamily="34" charset="-120"/>
              </a:rPr>
              <a:t>  —  % of peak used to build the centroid mask</a:t>
            </a:r>
            <a:endParaRPr lang="en-US" sz="1300" dirty="0"/>
          </a:p>
        </p:txBody>
      </p:sp>
      <p:sp>
        <p:nvSpPr>
          <p:cNvPr id="32" name="Shape 30"/>
          <p:cNvSpPr/>
          <p:nvPr/>
        </p:nvSpPr>
        <p:spPr>
          <a:xfrm>
            <a:off x="4037744" y="3084576"/>
            <a:ext cx="274320" cy="274320"/>
          </a:xfrm>
          <a:prstGeom prst="ellipse">
            <a:avLst/>
          </a:prstGeom>
          <a:solidFill>
            <a:srgbClr val="E63946"/>
          </a:solidFill>
          <a:ln w="12700">
            <a:solidFill>
              <a:srgbClr val="E63946"/>
            </a:solidFill>
            <a:prstDash val="solid"/>
          </a:ln>
        </p:spPr>
        <p:txBody>
          <a:bodyPr/>
          <a:lstStyle/>
          <a:p>
            <a:endParaRPr lang="en-US"/>
          </a:p>
        </p:txBody>
      </p:sp>
      <p:sp>
        <p:nvSpPr>
          <p:cNvPr id="33" name="Shape 31"/>
          <p:cNvSpPr/>
          <p:nvPr/>
        </p:nvSpPr>
        <p:spPr>
          <a:xfrm>
            <a:off x="4078892" y="3221736"/>
            <a:ext cx="192024" cy="0"/>
          </a:xfrm>
          <a:prstGeom prst="line">
            <a:avLst/>
          </a:prstGeom>
          <a:noFill/>
          <a:ln w="19050">
            <a:solidFill>
              <a:srgbClr val="FFFFFF"/>
            </a:solidFill>
            <a:prstDash val="solid"/>
          </a:ln>
        </p:spPr>
        <p:txBody>
          <a:bodyPr/>
          <a:lstStyle/>
          <a:p>
            <a:endParaRPr lang="en-US"/>
          </a:p>
        </p:txBody>
      </p:sp>
      <p:sp>
        <p:nvSpPr>
          <p:cNvPr id="34" name="Shape 32"/>
          <p:cNvSpPr/>
          <p:nvPr/>
        </p:nvSpPr>
        <p:spPr>
          <a:xfrm>
            <a:off x="4174904" y="3125724"/>
            <a:ext cx="0" cy="192024"/>
          </a:xfrm>
          <a:prstGeom prst="line">
            <a:avLst/>
          </a:prstGeom>
          <a:noFill/>
          <a:ln w="19050">
            <a:solidFill>
              <a:srgbClr val="FFFFFF"/>
            </a:solidFill>
            <a:prstDash val="solid"/>
          </a:ln>
        </p:spPr>
        <p:txBody>
          <a:bodyPr/>
          <a:lstStyle/>
          <a:p>
            <a:endParaRPr lang="en-US"/>
          </a:p>
        </p:txBody>
      </p:sp>
      <p:sp>
        <p:nvSpPr>
          <p:cNvPr id="35" name="Text 33"/>
          <p:cNvSpPr/>
          <p:nvPr/>
        </p:nvSpPr>
        <p:spPr>
          <a:xfrm>
            <a:off x="4513232" y="3011424"/>
            <a:ext cx="3531433" cy="509016"/>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Hold Maximum</a:t>
            </a:r>
            <a:r>
              <a:rPr lang="en-US" sz="1300" dirty="0">
                <a:solidFill>
                  <a:srgbClr val="6B7789"/>
                </a:solidFill>
                <a:latin typeface="Calibri" pitchFamily="34" charset="0"/>
                <a:ea typeface="Calibri" pitchFamily="34" charset="-122"/>
                <a:cs typeface="Calibri" pitchFamily="34" charset="-120"/>
              </a:rPr>
              <a:t>  —  running per-pixel max — good for brief pulses</a:t>
            </a:r>
            <a:endParaRPr lang="en-US" sz="1300" dirty="0"/>
          </a:p>
        </p:txBody>
      </p:sp>
      <p:sp>
        <p:nvSpPr>
          <p:cNvPr id="36" name="Shape 34"/>
          <p:cNvSpPr/>
          <p:nvPr/>
        </p:nvSpPr>
        <p:spPr>
          <a:xfrm>
            <a:off x="548640" y="4935929"/>
            <a:ext cx="274320" cy="274320"/>
          </a:xfrm>
          <a:prstGeom prst="ellipse">
            <a:avLst/>
          </a:prstGeom>
          <a:solidFill>
            <a:srgbClr val="E63946"/>
          </a:solidFill>
          <a:ln w="12700">
            <a:solidFill>
              <a:srgbClr val="E63946"/>
            </a:solidFill>
            <a:prstDash val="solid"/>
          </a:ln>
        </p:spPr>
        <p:txBody>
          <a:bodyPr/>
          <a:lstStyle/>
          <a:p>
            <a:endParaRPr lang="en-US"/>
          </a:p>
        </p:txBody>
      </p:sp>
      <p:sp>
        <p:nvSpPr>
          <p:cNvPr id="37" name="Shape 35"/>
          <p:cNvSpPr/>
          <p:nvPr/>
        </p:nvSpPr>
        <p:spPr>
          <a:xfrm>
            <a:off x="589788" y="5073089"/>
            <a:ext cx="192024" cy="0"/>
          </a:xfrm>
          <a:prstGeom prst="line">
            <a:avLst/>
          </a:prstGeom>
          <a:noFill/>
          <a:ln w="19050">
            <a:solidFill>
              <a:srgbClr val="FFFFFF"/>
            </a:solidFill>
            <a:prstDash val="solid"/>
          </a:ln>
        </p:spPr>
        <p:txBody>
          <a:bodyPr/>
          <a:lstStyle/>
          <a:p>
            <a:endParaRPr lang="en-US"/>
          </a:p>
        </p:txBody>
      </p:sp>
      <p:sp>
        <p:nvSpPr>
          <p:cNvPr id="38" name="Shape 36"/>
          <p:cNvSpPr/>
          <p:nvPr/>
        </p:nvSpPr>
        <p:spPr>
          <a:xfrm>
            <a:off x="685800" y="4977077"/>
            <a:ext cx="0" cy="192024"/>
          </a:xfrm>
          <a:prstGeom prst="line">
            <a:avLst/>
          </a:prstGeom>
          <a:noFill/>
          <a:ln w="19050">
            <a:solidFill>
              <a:srgbClr val="FFFFFF"/>
            </a:solidFill>
            <a:prstDash val="solid"/>
          </a:ln>
        </p:spPr>
        <p:txBody>
          <a:bodyPr/>
          <a:lstStyle/>
          <a:p>
            <a:endParaRPr lang="en-US"/>
          </a:p>
        </p:txBody>
      </p:sp>
      <p:sp>
        <p:nvSpPr>
          <p:cNvPr id="39" name="Text 37"/>
          <p:cNvSpPr/>
          <p:nvPr/>
        </p:nvSpPr>
        <p:spPr>
          <a:xfrm>
            <a:off x="1024128" y="4862777"/>
            <a:ext cx="3531433" cy="726948"/>
          </a:xfrm>
          <a:prstGeom prst="rect">
            <a:avLst/>
          </a:prstGeom>
          <a:noFill/>
          <a:ln/>
        </p:spPr>
        <p:txBody>
          <a:bodyPr wrap="square" rtlCol="0" anchor="t"/>
          <a:lstStyle/>
          <a:p>
            <a:pPr marL="0" indent="0">
              <a:buNone/>
            </a:pPr>
            <a:r>
              <a:rPr lang="en-US" sz="1300" b="1" dirty="0">
                <a:solidFill>
                  <a:srgbClr val="26313F"/>
                </a:solidFill>
                <a:latin typeface="Calibri" pitchFamily="34" charset="0"/>
                <a:ea typeface="Calibri" pitchFamily="34" charset="-122"/>
                <a:cs typeface="Calibri" pitchFamily="34" charset="-120"/>
              </a:rPr>
              <a:t>Instrument PSF / Wavelength / Power Cal</a:t>
            </a:r>
            <a:r>
              <a:rPr lang="en-US" sz="1300" dirty="0">
                <a:solidFill>
                  <a:srgbClr val="6B7789"/>
                </a:solidFill>
                <a:latin typeface="Calibri" pitchFamily="34" charset="0"/>
                <a:ea typeface="Calibri" pitchFamily="34" charset="-122"/>
                <a:cs typeface="Calibri" pitchFamily="34" charset="-120"/>
              </a:rPr>
              <a:t>  —  optional corrections — leave at zero/uncalibrated unless independently characterized</a:t>
            </a:r>
            <a:endParaRPr lang="en-US" sz="1300" dirty="0"/>
          </a:p>
        </p:txBody>
      </p:sp>
      <p:sp>
        <p:nvSpPr>
          <p:cNvPr id="40" name="Text 3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41" name="Text 39"/>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25</a:t>
            </a:r>
            <a:endParaRPr lang="en-US" sz="900" dirty="0"/>
          </a:p>
        </p:txBody>
      </p:sp>
      <p:pic>
        <p:nvPicPr>
          <p:cNvPr id="42" name="Picture 41">
            <a:extLst>
              <a:ext uri="{FF2B5EF4-FFF2-40B4-BE49-F238E27FC236}">
                <a16:creationId xmlns:a16="http://schemas.microsoft.com/office/drawing/2014/main" id="{A7442A59-A7C4-3A6E-83A5-EDF935F15E87}"/>
              </a:ext>
            </a:extLst>
          </p:cNvPr>
          <p:cNvPicPr>
            <a:picLocks noChangeAspect="1"/>
          </p:cNvPicPr>
          <p:nvPr/>
        </p:nvPicPr>
        <p:blipFill>
          <a:blip r:embed="rId3"/>
          <a:srcRect l="34349" t="12026" r="43335" b="20536"/>
          <a:stretch>
            <a:fillRect/>
          </a:stretch>
        </p:blipFill>
        <p:spPr>
          <a:xfrm>
            <a:off x="7715891" y="1323966"/>
            <a:ext cx="3013615" cy="541290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6. BEAM STABILITY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Beam Stability Panel</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Plots centroid movement</a:t>
            </a:r>
            <a:r>
              <a:rPr lang="en-US" sz="1500" dirty="0">
                <a:solidFill>
                  <a:srgbClr val="6B7789"/>
                </a:solidFill>
                <a:latin typeface="Calibri" pitchFamily="34" charset="0"/>
                <a:ea typeface="Calibri" pitchFamily="34" charset="-122"/>
                <a:cs typeface="Calibri" pitchFamily="34" charset="-120"/>
              </a:rPr>
              <a:t>  —  X/Y offset from sensor center, in µm, over time</a:t>
            </a:r>
            <a:endParaRPr lang="en-US" sz="1500" dirty="0"/>
          </a:p>
        </p:txBody>
      </p:sp>
      <p:sp>
        <p:nvSpPr>
          <p:cNvPr id="8" name="Shape 6"/>
          <p:cNvSpPr/>
          <p:nvPr/>
        </p:nvSpPr>
        <p:spPr>
          <a:xfrm>
            <a:off x="548640" y="251460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5176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5574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41448"/>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Use it to spot</a:t>
            </a:r>
            <a:r>
              <a:rPr lang="en-US" sz="1500" dirty="0">
                <a:solidFill>
                  <a:srgbClr val="6B7789"/>
                </a:solidFill>
                <a:latin typeface="Calibri" pitchFamily="34" charset="0"/>
                <a:ea typeface="Calibri" pitchFamily="34" charset="-122"/>
                <a:cs typeface="Calibri" pitchFamily="34" charset="-120"/>
              </a:rPr>
              <a:t>  —  pointing drift, vibration, warm-up behavior, sudden movement, long-term alignment issues</a:t>
            </a:r>
            <a:endParaRPr lang="en-US" sz="1500" dirty="0"/>
          </a:p>
        </p:txBody>
      </p:sp>
      <p:sp>
        <p:nvSpPr>
          <p:cNvPr id="12" name="Shape 10"/>
          <p:cNvSpPr/>
          <p:nvPr/>
        </p:nvSpPr>
        <p:spPr>
          <a:xfrm>
            <a:off x="548640" y="3470148"/>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607308"/>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511296"/>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396996"/>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Live diagnostic only</a:t>
            </a:r>
            <a:r>
              <a:rPr lang="en-US" sz="1500" dirty="0">
                <a:solidFill>
                  <a:srgbClr val="6B7789"/>
                </a:solidFill>
                <a:latin typeface="Calibri" pitchFamily="34" charset="0"/>
                <a:ea typeface="Calibri" pitchFamily="34" charset="-122"/>
                <a:cs typeface="Calibri" pitchFamily="34" charset="-120"/>
              </a:rPr>
              <a:t>  —  use CSV logging when you need to keep the data</a:t>
            </a:r>
            <a:endParaRPr lang="en-US" sz="1500" dirty="0"/>
          </a:p>
        </p:txBody>
      </p:sp>
      <p:sp>
        <p:nvSpPr>
          <p:cNvPr id="22" name="Text 20"/>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3" name="Text 21"/>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26</a:t>
            </a:r>
            <a:endParaRPr lang="en-US" sz="900" dirty="0"/>
          </a:p>
        </p:txBody>
      </p:sp>
      <p:pic>
        <p:nvPicPr>
          <p:cNvPr id="24" name="Picture 23">
            <a:extLst>
              <a:ext uri="{FF2B5EF4-FFF2-40B4-BE49-F238E27FC236}">
                <a16:creationId xmlns:a16="http://schemas.microsoft.com/office/drawing/2014/main" id="{FB885ABD-2B4B-7B2E-A757-EC45BDFEE576}"/>
              </a:ext>
            </a:extLst>
          </p:cNvPr>
          <p:cNvPicPr>
            <a:picLocks noChangeAspect="1"/>
          </p:cNvPicPr>
          <p:nvPr/>
        </p:nvPicPr>
        <p:blipFill>
          <a:blip r:embed="rId3"/>
          <a:srcRect l="56971" t="11868" r="22541" b="60266"/>
          <a:stretch>
            <a:fillRect/>
          </a:stretch>
        </p:blipFill>
        <p:spPr>
          <a:xfrm>
            <a:off x="7140277" y="1321168"/>
            <a:ext cx="4106843" cy="332010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7. PROPAGATION / M²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Propagation / M² Panel — Overview</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Fits a beam caustic</a:t>
            </a:r>
            <a:r>
              <a:rPr lang="en-US" sz="1500" dirty="0">
                <a:solidFill>
                  <a:srgbClr val="6B7789"/>
                </a:solidFill>
                <a:latin typeface="Calibri" pitchFamily="34" charset="0"/>
                <a:ea typeface="Calibri" pitchFamily="34" charset="-122"/>
                <a:cs typeface="Calibri" pitchFamily="34" charset="-120"/>
              </a:rPr>
              <a:t>  —  from measurements at several axial (Z) positions</a:t>
            </a:r>
            <a:endParaRPr lang="en-US" sz="1500" dirty="0"/>
          </a:p>
        </p:txBody>
      </p:sp>
      <p:sp>
        <p:nvSpPr>
          <p:cNvPr id="8" name="Shape 6"/>
          <p:cNvSpPr/>
          <p:nvPr/>
        </p:nvSpPr>
        <p:spPr>
          <a:xfrm>
            <a:off x="548640" y="2514600"/>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651760"/>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555748"/>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441448"/>
            <a:ext cx="546811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D4σ camera axes</a:t>
            </a:r>
            <a:r>
              <a:rPr lang="en-US" sz="1500" dirty="0">
                <a:solidFill>
                  <a:srgbClr val="6B7789"/>
                </a:solidFill>
                <a:latin typeface="Calibri" pitchFamily="34" charset="0"/>
                <a:ea typeface="Calibri" pitchFamily="34" charset="-122"/>
                <a:cs typeface="Calibri" pitchFamily="34" charset="-120"/>
              </a:rPr>
              <a:t>  —  preferred, ISO-style second-moment method</a:t>
            </a:r>
            <a:endParaRPr lang="en-US" sz="1500" dirty="0"/>
          </a:p>
        </p:txBody>
      </p:sp>
      <p:sp>
        <p:nvSpPr>
          <p:cNvPr id="12" name="Shape 10"/>
          <p:cNvSpPr/>
          <p:nvPr/>
        </p:nvSpPr>
        <p:spPr>
          <a:xfrm>
            <a:off x="548640" y="3218688"/>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355848"/>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259836"/>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3145536"/>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Gaussian-fit 1/e² diameters</a:t>
            </a:r>
            <a:r>
              <a:rPr lang="en-US" sz="1500" dirty="0">
                <a:solidFill>
                  <a:srgbClr val="6B7789"/>
                </a:solidFill>
                <a:latin typeface="Calibri" pitchFamily="34" charset="0"/>
                <a:ea typeface="Calibri" pitchFamily="34" charset="-122"/>
                <a:cs typeface="Calibri" pitchFamily="34" charset="-120"/>
              </a:rPr>
              <a:t>  —  non-ISO comparison method — valid only for sufficiently Gaussian beams</a:t>
            </a:r>
            <a:endParaRPr lang="en-US" sz="1500" dirty="0"/>
          </a:p>
        </p:txBody>
      </p:sp>
      <p:sp>
        <p:nvSpPr>
          <p:cNvPr id="16" name="Shape 14"/>
          <p:cNvSpPr/>
          <p:nvPr/>
        </p:nvSpPr>
        <p:spPr>
          <a:xfrm>
            <a:off x="548640" y="4174236"/>
            <a:ext cx="274320" cy="274320"/>
          </a:xfrm>
          <a:prstGeom prst="ellipse">
            <a:avLst/>
          </a:prstGeom>
          <a:solidFill>
            <a:srgbClr val="E63946"/>
          </a:solidFill>
          <a:ln w="12700">
            <a:solidFill>
              <a:srgbClr val="E63946"/>
            </a:solidFill>
            <a:prstDash val="solid"/>
          </a:ln>
        </p:spPr>
        <p:txBody>
          <a:bodyPr/>
          <a:lstStyle/>
          <a:p>
            <a:endParaRPr lang="en-US"/>
          </a:p>
        </p:txBody>
      </p:sp>
      <p:sp>
        <p:nvSpPr>
          <p:cNvPr id="17" name="Shape 15"/>
          <p:cNvSpPr/>
          <p:nvPr/>
        </p:nvSpPr>
        <p:spPr>
          <a:xfrm>
            <a:off x="589788" y="4311396"/>
            <a:ext cx="192024" cy="0"/>
          </a:xfrm>
          <a:prstGeom prst="line">
            <a:avLst/>
          </a:prstGeom>
          <a:noFill/>
          <a:ln w="19050">
            <a:solidFill>
              <a:srgbClr val="FFFFFF"/>
            </a:solidFill>
            <a:prstDash val="solid"/>
          </a:ln>
        </p:spPr>
        <p:txBody>
          <a:bodyPr/>
          <a:lstStyle/>
          <a:p>
            <a:endParaRPr lang="en-US"/>
          </a:p>
        </p:txBody>
      </p:sp>
      <p:sp>
        <p:nvSpPr>
          <p:cNvPr id="18" name="Shape 16"/>
          <p:cNvSpPr/>
          <p:nvPr/>
        </p:nvSpPr>
        <p:spPr>
          <a:xfrm>
            <a:off x="685800" y="4215384"/>
            <a:ext cx="0" cy="192024"/>
          </a:xfrm>
          <a:prstGeom prst="line">
            <a:avLst/>
          </a:prstGeom>
          <a:noFill/>
          <a:ln w="19050">
            <a:solidFill>
              <a:srgbClr val="FFFFFF"/>
            </a:solidFill>
            <a:prstDash val="solid"/>
          </a:ln>
        </p:spPr>
        <p:txBody>
          <a:bodyPr/>
          <a:lstStyle/>
          <a:p>
            <a:endParaRPr lang="en-US"/>
          </a:p>
        </p:txBody>
      </p:sp>
      <p:sp>
        <p:nvSpPr>
          <p:cNvPr id="19" name="Text 17"/>
          <p:cNvSpPr/>
          <p:nvPr/>
        </p:nvSpPr>
        <p:spPr>
          <a:xfrm>
            <a:off x="1024128" y="4101084"/>
            <a:ext cx="5468112" cy="82753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Minimum data</a:t>
            </a:r>
            <a:r>
              <a:rPr lang="en-US" sz="1500" dirty="0">
                <a:solidFill>
                  <a:srgbClr val="6B7789"/>
                </a:solidFill>
                <a:latin typeface="Calibri" pitchFamily="34" charset="0"/>
                <a:ea typeface="Calibri" pitchFamily="34" charset="-122"/>
                <a:cs typeface="Calibri" pitchFamily="34" charset="-120"/>
              </a:rPr>
              <a:t>  —  4 distinct Z positions for a provisional fit; 10+ well-distributed positions preferred</a:t>
            </a:r>
            <a:endParaRPr lang="en-US" sz="1500" dirty="0"/>
          </a:p>
        </p:txBody>
      </p:sp>
      <p:sp>
        <p:nvSpPr>
          <p:cNvPr id="26" name="Text 2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7" name="Text 2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27</a:t>
            </a:r>
            <a:endParaRPr lang="en-US" sz="900" dirty="0"/>
          </a:p>
        </p:txBody>
      </p:sp>
      <p:pic>
        <p:nvPicPr>
          <p:cNvPr id="28" name="Picture 27">
            <a:extLst>
              <a:ext uri="{FF2B5EF4-FFF2-40B4-BE49-F238E27FC236}">
                <a16:creationId xmlns:a16="http://schemas.microsoft.com/office/drawing/2014/main" id="{6B48106E-6DEF-776A-FDFC-86DBBBB098D3}"/>
              </a:ext>
            </a:extLst>
          </p:cNvPr>
          <p:cNvPicPr>
            <a:picLocks noChangeAspect="1"/>
          </p:cNvPicPr>
          <p:nvPr/>
        </p:nvPicPr>
        <p:blipFill>
          <a:blip r:embed="rId3"/>
          <a:srcRect l="29668" t="11800" b="15400"/>
          <a:stretch>
            <a:fillRect/>
          </a:stretch>
        </p:blipFill>
        <p:spPr>
          <a:xfrm>
            <a:off x="6324747" y="1737360"/>
            <a:ext cx="5781945" cy="354787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PANEL TOUR — 7. PROPAGATION / M² PANEL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Propagation / M² Workflow</a:t>
            </a:r>
            <a:endParaRPr lang="en-US" sz="3200" dirty="0"/>
          </a:p>
        </p:txBody>
      </p:sp>
      <p:sp>
        <p:nvSpPr>
          <p:cNvPr id="4" name="Shape 2"/>
          <p:cNvSpPr/>
          <p:nvPr/>
        </p:nvSpPr>
        <p:spPr>
          <a:xfrm>
            <a:off x="548640" y="1828800"/>
            <a:ext cx="384048" cy="384048"/>
          </a:xfrm>
          <a:prstGeom prst="ellipse">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548640" y="182880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097280" y="1792224"/>
            <a:ext cx="950976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Enter the beam wavelength</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and select the width method</a:t>
            </a:r>
            <a:endParaRPr lang="en-US" sz="1450" dirty="0"/>
          </a:p>
        </p:txBody>
      </p:sp>
      <p:sp>
        <p:nvSpPr>
          <p:cNvPr id="7" name="Shape 5"/>
          <p:cNvSpPr/>
          <p:nvPr/>
        </p:nvSpPr>
        <p:spPr>
          <a:xfrm>
            <a:off x="548640" y="2490978"/>
            <a:ext cx="384048" cy="384048"/>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548640" y="249097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p:nvPr/>
        </p:nvSpPr>
        <p:spPr>
          <a:xfrm>
            <a:off x="1097280" y="2454402"/>
            <a:ext cx="950976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Move to a known Z position</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camera, beam, or focusing optic — then enter that coordinate</a:t>
            </a:r>
            <a:endParaRPr lang="en-US" sz="1450" dirty="0"/>
          </a:p>
        </p:txBody>
      </p:sp>
      <p:sp>
        <p:nvSpPr>
          <p:cNvPr id="10" name="Shape 8"/>
          <p:cNvSpPr/>
          <p:nvPr/>
        </p:nvSpPr>
        <p:spPr>
          <a:xfrm>
            <a:off x="548640" y="3153156"/>
            <a:ext cx="384048" cy="384048"/>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548640" y="315315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p:nvPr/>
        </p:nvSpPr>
        <p:spPr>
          <a:xfrm>
            <a:off x="1097280" y="3116580"/>
            <a:ext cx="9509760" cy="384048"/>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Wait for a stable, unsaturated beam</a:t>
            </a:r>
            <a:endParaRPr lang="en-US" sz="1450" dirty="0"/>
          </a:p>
        </p:txBody>
      </p:sp>
      <p:sp>
        <p:nvSpPr>
          <p:cNvPr id="13" name="Shape 11"/>
          <p:cNvSpPr/>
          <p:nvPr/>
        </p:nvSpPr>
        <p:spPr>
          <a:xfrm>
            <a:off x="548640" y="3683508"/>
            <a:ext cx="384048" cy="384048"/>
          </a:xfrm>
          <a:prstGeom prst="ellipse">
            <a:avLst/>
          </a:prstGeom>
          <a:solidFill>
            <a:srgbClr val="E63946"/>
          </a:solidFill>
          <a:ln w="12700">
            <a:solidFill>
              <a:srgbClr val="E63946"/>
            </a:solidFill>
            <a:prstDash val="solid"/>
          </a:ln>
        </p:spPr>
        <p:txBody>
          <a:bodyPr/>
          <a:lstStyle/>
          <a:p>
            <a:endParaRPr lang="en-US"/>
          </a:p>
        </p:txBody>
      </p:sp>
      <p:sp>
        <p:nvSpPr>
          <p:cNvPr id="14" name="Text 12"/>
          <p:cNvSpPr/>
          <p:nvPr/>
        </p:nvSpPr>
        <p:spPr>
          <a:xfrm>
            <a:off x="548640" y="368350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p:nvPr/>
        </p:nvSpPr>
        <p:spPr>
          <a:xfrm>
            <a:off x="1097280" y="3646932"/>
            <a:ext cx="9509760" cy="384048"/>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Click Log Stable Current Measurement</a:t>
            </a:r>
            <a:endParaRPr lang="en-US" sz="1450" dirty="0"/>
          </a:p>
        </p:txBody>
      </p:sp>
      <p:sp>
        <p:nvSpPr>
          <p:cNvPr id="16" name="Shape 14"/>
          <p:cNvSpPr/>
          <p:nvPr/>
        </p:nvSpPr>
        <p:spPr>
          <a:xfrm>
            <a:off x="548640" y="4213860"/>
            <a:ext cx="384048" cy="384048"/>
          </a:xfrm>
          <a:prstGeom prst="ellipse">
            <a:avLst/>
          </a:prstGeom>
          <a:solidFill>
            <a:srgbClr val="E63946"/>
          </a:solidFill>
          <a:ln w="12700">
            <a:solidFill>
              <a:srgbClr val="E63946"/>
            </a:solidFill>
            <a:prstDash val="solid"/>
          </a:ln>
        </p:spPr>
        <p:txBody>
          <a:bodyPr/>
          <a:lstStyle/>
          <a:p>
            <a:endParaRPr lang="en-US"/>
          </a:p>
        </p:txBody>
      </p:sp>
      <p:sp>
        <p:nvSpPr>
          <p:cNvPr id="17" name="Text 15"/>
          <p:cNvSpPr/>
          <p:nvPr/>
        </p:nvSpPr>
        <p:spPr>
          <a:xfrm>
            <a:off x="548640" y="4213860"/>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p:nvPr/>
        </p:nvSpPr>
        <p:spPr>
          <a:xfrm>
            <a:off x="1097280" y="4177284"/>
            <a:ext cx="9509760" cy="515874"/>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Repeat on both sides of the waist</a:t>
            </a:r>
            <a:endParaRPr lang="en-US" sz="1450" dirty="0"/>
          </a:p>
          <a:p>
            <a:pPr marL="0" indent="0">
              <a:buNone/>
            </a:pPr>
            <a:r>
              <a:rPr lang="en-US" sz="1300" dirty="0">
                <a:solidFill>
                  <a:srgbClr val="6B7789"/>
                </a:solidFill>
                <a:latin typeface="Calibri" pitchFamily="34" charset="0"/>
                <a:ea typeface="Calibri" pitchFamily="34" charset="-122"/>
                <a:cs typeface="Calibri" pitchFamily="34" charset="-120"/>
              </a:rPr>
              <a:t>at multiple positions</a:t>
            </a:r>
            <a:endParaRPr lang="en-US" sz="1450" dirty="0"/>
          </a:p>
        </p:txBody>
      </p:sp>
      <p:sp>
        <p:nvSpPr>
          <p:cNvPr id="19" name="Shape 17"/>
          <p:cNvSpPr/>
          <p:nvPr/>
        </p:nvSpPr>
        <p:spPr>
          <a:xfrm>
            <a:off x="548640" y="4876038"/>
            <a:ext cx="384048" cy="384048"/>
          </a:xfrm>
          <a:prstGeom prst="ellipse">
            <a:avLst/>
          </a:prstGeom>
          <a:solidFill>
            <a:srgbClr val="E63946"/>
          </a:solidFill>
          <a:ln w="12700">
            <a:solidFill>
              <a:srgbClr val="E63946"/>
            </a:solidFill>
            <a:prstDash val="solid"/>
          </a:ln>
        </p:spPr>
        <p:txBody>
          <a:bodyPr/>
          <a:lstStyle/>
          <a:p>
            <a:endParaRPr lang="en-US"/>
          </a:p>
        </p:txBody>
      </p:sp>
      <p:sp>
        <p:nvSpPr>
          <p:cNvPr id="20" name="Text 18"/>
          <p:cNvSpPr/>
          <p:nvPr/>
        </p:nvSpPr>
        <p:spPr>
          <a:xfrm>
            <a:off x="548640" y="487603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p:nvPr/>
        </p:nvSpPr>
        <p:spPr>
          <a:xfrm>
            <a:off x="1097280" y="4839462"/>
            <a:ext cx="9509760" cy="384048"/>
          </a:xfrm>
          <a:prstGeom prst="rect">
            <a:avLst/>
          </a:prstGeom>
          <a:noFill/>
          <a:ln/>
        </p:spPr>
        <p:txBody>
          <a:bodyPr wrap="square" rtlCol="0" anchor="t"/>
          <a:lstStyle/>
          <a:p>
            <a:pPr marL="0" indent="0">
              <a:buNone/>
            </a:pPr>
            <a:r>
              <a:rPr lang="en-US" sz="1450" b="1" dirty="0">
                <a:solidFill>
                  <a:srgbClr val="26313F"/>
                </a:solidFill>
                <a:latin typeface="Calibri" pitchFamily="34" charset="0"/>
                <a:ea typeface="Calibri" pitchFamily="34" charset="-122"/>
                <a:cs typeface="Calibri" pitchFamily="34" charset="-120"/>
              </a:rPr>
              <a:t>Inspect fitted curves, residuals, warnings, and parameters</a:t>
            </a:r>
            <a:endParaRPr lang="en-US" sz="1450" dirty="0"/>
          </a:p>
        </p:txBody>
      </p:sp>
      <p:sp>
        <p:nvSpPr>
          <p:cNvPr id="22" name="Shape 20"/>
          <p:cNvSpPr/>
          <p:nvPr/>
        </p:nvSpPr>
        <p:spPr>
          <a:xfrm>
            <a:off x="548640" y="5424678"/>
            <a:ext cx="10515600" cy="566928"/>
          </a:xfrm>
          <a:prstGeom prst="roundRect">
            <a:avLst>
              <a:gd name="adj" fmla="val 9677"/>
            </a:avLst>
          </a:prstGeom>
          <a:solidFill>
            <a:srgbClr val="FDECEC"/>
          </a:solidFill>
          <a:ln w="9525">
            <a:solidFill>
              <a:srgbClr val="E63946"/>
            </a:solidFill>
            <a:prstDash val="solid"/>
          </a:ln>
        </p:spPr>
        <p:txBody>
          <a:bodyPr/>
          <a:lstStyle/>
          <a:p>
            <a:endParaRPr lang="en-US"/>
          </a:p>
        </p:txBody>
      </p:sp>
      <p:sp>
        <p:nvSpPr>
          <p:cNvPr id="23" name="Text 21"/>
          <p:cNvSpPr/>
          <p:nvPr/>
        </p:nvSpPr>
        <p:spPr>
          <a:xfrm>
            <a:off x="777240" y="5424678"/>
            <a:ext cx="10058400" cy="566928"/>
          </a:xfrm>
          <a:prstGeom prst="rect">
            <a:avLst/>
          </a:prstGeom>
          <a:noFill/>
          <a:ln/>
        </p:spPr>
        <p:txBody>
          <a:bodyPr wrap="square" rtlCol="0" anchor="ctr"/>
          <a:lstStyle/>
          <a:p>
            <a:r>
              <a:rPr lang="en-US" sz="1150" i="1" dirty="0">
                <a:solidFill>
                  <a:srgbClr val="8C2A32"/>
                </a:solidFill>
                <a:latin typeface="Calibri" pitchFamily="34" charset="0"/>
                <a:ea typeface="Calibri" pitchFamily="34" charset="-122"/>
                <a:cs typeface="Calibri" pitchFamily="34" charset="-120"/>
              </a:rPr>
              <a:t>10 measurements highly recommended: half within one Rayleigh range of the waist (to lock in the bottom of the curve), and half beyond two Rayleigh ranges (to lock in the angle of the diverging tails). Without these measurements, you may have a very high error margin, as shown in the above screenshot.</a:t>
            </a:r>
            <a:endParaRPr lang="en-US" sz="1150" dirty="0"/>
          </a:p>
        </p:txBody>
      </p:sp>
      <p:sp>
        <p:nvSpPr>
          <p:cNvPr id="24" name="Text 22"/>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5" name="Text 23"/>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28</a:t>
            </a:r>
            <a:endParaRPr lang="en-US" sz="900" dirty="0"/>
          </a:p>
        </p:txBody>
      </p:sp>
      <p:pic>
        <p:nvPicPr>
          <p:cNvPr id="26" name="Picture 25">
            <a:extLst>
              <a:ext uri="{FF2B5EF4-FFF2-40B4-BE49-F238E27FC236}">
                <a16:creationId xmlns:a16="http://schemas.microsoft.com/office/drawing/2014/main" id="{46BA23DB-F8E3-E5E6-18C9-6A42C3A0E49D}"/>
              </a:ext>
            </a:extLst>
          </p:cNvPr>
          <p:cNvPicPr>
            <a:picLocks noChangeAspect="1"/>
          </p:cNvPicPr>
          <p:nvPr/>
        </p:nvPicPr>
        <p:blipFill>
          <a:blip r:embed="rId3"/>
          <a:stretch>
            <a:fillRect/>
          </a:stretch>
        </p:blipFill>
        <p:spPr>
          <a:xfrm>
            <a:off x="5665952" y="1263117"/>
            <a:ext cx="6526048" cy="386867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822960" y="1920240"/>
            <a:ext cx="2743200" cy="1828800"/>
          </a:xfrm>
          <a:prstGeom prst="rect">
            <a:avLst/>
          </a:prstGeom>
          <a:noFill/>
          <a:ln/>
        </p:spPr>
        <p:txBody>
          <a:bodyPr wrap="square" rtlCol="0" anchor="ctr"/>
          <a:lstStyle/>
          <a:p>
            <a:pPr marL="0" indent="0">
              <a:buNone/>
            </a:pPr>
            <a:r>
              <a:rPr lang="en-US" sz="9600" b="1" dirty="0">
                <a:solidFill>
                  <a:srgbClr val="1D3A63"/>
                </a:solidFill>
                <a:latin typeface="Cambria" pitchFamily="34" charset="0"/>
                <a:ea typeface="Cambria" pitchFamily="34" charset="-122"/>
                <a:cs typeface="Cambria" pitchFamily="34" charset="-120"/>
              </a:rPr>
              <a:t>05</a:t>
            </a:r>
            <a:endParaRPr lang="en-US" sz="9600" dirty="0"/>
          </a:p>
        </p:txBody>
      </p:sp>
      <p:sp>
        <p:nvSpPr>
          <p:cNvPr id="3" name="Shape 1"/>
          <p:cNvSpPr/>
          <p:nvPr/>
        </p:nvSpPr>
        <p:spPr>
          <a:xfrm>
            <a:off x="896112" y="3794760"/>
            <a:ext cx="502920" cy="502920"/>
          </a:xfrm>
          <a:prstGeom prst="ellipse">
            <a:avLst/>
          </a:prstGeom>
          <a:solidFill>
            <a:srgbClr val="E63946"/>
          </a:solidFill>
          <a:ln w="12700">
            <a:solidFill>
              <a:srgbClr val="E63946"/>
            </a:solidFill>
            <a:prstDash val="solid"/>
          </a:ln>
        </p:spPr>
        <p:txBody>
          <a:bodyPr/>
          <a:lstStyle/>
          <a:p>
            <a:endParaRPr lang="en-US"/>
          </a:p>
        </p:txBody>
      </p:sp>
      <p:sp>
        <p:nvSpPr>
          <p:cNvPr id="4" name="Shape 2"/>
          <p:cNvSpPr/>
          <p:nvPr/>
        </p:nvSpPr>
        <p:spPr>
          <a:xfrm>
            <a:off x="971550" y="4046220"/>
            <a:ext cx="352044" cy="0"/>
          </a:xfrm>
          <a:prstGeom prst="line">
            <a:avLst/>
          </a:prstGeom>
          <a:noFill/>
          <a:ln w="19050">
            <a:solidFill>
              <a:srgbClr val="FFFFFF"/>
            </a:solidFill>
            <a:prstDash val="solid"/>
          </a:ln>
        </p:spPr>
        <p:txBody>
          <a:bodyPr/>
          <a:lstStyle/>
          <a:p>
            <a:endParaRPr lang="en-US"/>
          </a:p>
        </p:txBody>
      </p:sp>
      <p:sp>
        <p:nvSpPr>
          <p:cNvPr id="5" name="Shape 3"/>
          <p:cNvSpPr/>
          <p:nvPr/>
        </p:nvSpPr>
        <p:spPr>
          <a:xfrm>
            <a:off x="1147572" y="3870198"/>
            <a:ext cx="0" cy="352044"/>
          </a:xfrm>
          <a:prstGeom prst="line">
            <a:avLst/>
          </a:prstGeom>
          <a:noFill/>
          <a:ln w="19050">
            <a:solidFill>
              <a:srgbClr val="FFFFFF"/>
            </a:solidFill>
            <a:prstDash val="solid"/>
          </a:ln>
        </p:spPr>
        <p:txBody>
          <a:bodyPr/>
          <a:lstStyle/>
          <a:p>
            <a:endParaRPr lang="en-US"/>
          </a:p>
        </p:txBody>
      </p:sp>
      <p:sp>
        <p:nvSpPr>
          <p:cNvPr id="6" name="Text 4"/>
          <p:cNvSpPr/>
          <p:nvPr/>
        </p:nvSpPr>
        <p:spPr>
          <a:xfrm>
            <a:off x="1600200" y="3246120"/>
            <a:ext cx="9601200" cy="91440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Output &amp; Troubleshooting</a:t>
            </a:r>
            <a:endParaRPr lang="en-US" sz="3400" dirty="0"/>
          </a:p>
        </p:txBody>
      </p:sp>
      <p:sp>
        <p:nvSpPr>
          <p:cNvPr id="7" name="Text 5"/>
          <p:cNvSpPr/>
          <p:nvPr/>
        </p:nvSpPr>
        <p:spPr>
          <a:xfrm>
            <a:off x="1627632" y="3977640"/>
            <a:ext cx="9144000" cy="548640"/>
          </a:xfrm>
          <a:prstGeom prst="rect">
            <a:avLst/>
          </a:prstGeom>
          <a:noFill/>
          <a:ln/>
        </p:spPr>
        <p:txBody>
          <a:bodyPr wrap="square" rtlCol="0" anchor="ctr"/>
          <a:lstStyle/>
          <a:p>
            <a:pPr marL="0" indent="0">
              <a:buNone/>
            </a:pPr>
            <a:r>
              <a:rPr lang="en-US" sz="1400" i="1" dirty="0">
                <a:solidFill>
                  <a:srgbClr val="9FB3C8"/>
                </a:solidFill>
                <a:latin typeface="Calibri" pitchFamily="34" charset="0"/>
                <a:ea typeface="Calibri" pitchFamily="34" charset="-122"/>
                <a:cs typeface="Calibri" pitchFamily="34" charset="-120"/>
              </a:rPr>
              <a:t>Where your data goes, and what to do when something looks wrong</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OUTPUT &amp; TROUBLESHOOTING</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Saved Capture Files</a:t>
            </a:r>
            <a:endParaRPr lang="en-US" sz="3200" dirty="0"/>
          </a:p>
        </p:txBody>
      </p:sp>
      <p:sp>
        <p:nvSpPr>
          <p:cNvPr id="4" name="Shape 2"/>
          <p:cNvSpPr/>
          <p:nvPr/>
        </p:nvSpPr>
        <p:spPr>
          <a:xfrm>
            <a:off x="548640" y="1783080"/>
            <a:ext cx="539496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5" name="Shape 3"/>
          <p:cNvSpPr/>
          <p:nvPr/>
        </p:nvSpPr>
        <p:spPr>
          <a:xfrm>
            <a:off x="74980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6" name="Shape 4"/>
          <p:cNvSpPr/>
          <p:nvPr/>
        </p:nvSpPr>
        <p:spPr>
          <a:xfrm>
            <a:off x="793699" y="2130552"/>
            <a:ext cx="204826" cy="0"/>
          </a:xfrm>
          <a:prstGeom prst="line">
            <a:avLst/>
          </a:prstGeom>
          <a:noFill/>
          <a:ln w="19050">
            <a:solidFill>
              <a:srgbClr val="FFFFFF"/>
            </a:solidFill>
            <a:prstDash val="solid"/>
          </a:ln>
        </p:spPr>
        <p:txBody>
          <a:bodyPr/>
          <a:lstStyle/>
          <a:p>
            <a:endParaRPr lang="en-US"/>
          </a:p>
        </p:txBody>
      </p:sp>
      <p:sp>
        <p:nvSpPr>
          <p:cNvPr id="7" name="Shape 5"/>
          <p:cNvSpPr/>
          <p:nvPr/>
        </p:nvSpPr>
        <p:spPr>
          <a:xfrm>
            <a:off x="896112" y="2028139"/>
            <a:ext cx="0" cy="204826"/>
          </a:xfrm>
          <a:prstGeom prst="line">
            <a:avLst/>
          </a:prstGeom>
          <a:noFill/>
          <a:ln w="19050">
            <a:solidFill>
              <a:srgbClr val="FFFFFF"/>
            </a:solidFill>
            <a:prstDash val="solid"/>
          </a:ln>
        </p:spPr>
        <p:txBody>
          <a:bodyPr/>
          <a:lstStyle/>
          <a:p>
            <a:endParaRPr lang="en-US"/>
          </a:p>
        </p:txBody>
      </p:sp>
      <p:sp>
        <p:nvSpPr>
          <p:cNvPr id="8" name="Text 6"/>
          <p:cNvSpPr/>
          <p:nvPr/>
        </p:nvSpPr>
        <p:spPr>
          <a:xfrm>
            <a:off x="1143000" y="192938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Raw TIFF (.tif)</a:t>
            </a:r>
            <a:endParaRPr lang="en-US" sz="1350" dirty="0"/>
          </a:p>
        </p:txBody>
      </p:sp>
      <p:sp>
        <p:nvSpPr>
          <p:cNvPr id="9" name="Text 7"/>
          <p:cNvSpPr/>
          <p:nvPr/>
        </p:nvSpPr>
        <p:spPr>
          <a:xfrm>
            <a:off x="777240" y="2404872"/>
            <a:ext cx="493776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Raw grayscale camera values, full available bit depth</a:t>
            </a:r>
            <a:endParaRPr lang="en-US" sz="1100" dirty="0"/>
          </a:p>
        </p:txBody>
      </p:sp>
      <p:sp>
        <p:nvSpPr>
          <p:cNvPr id="10" name="Shape 8"/>
          <p:cNvSpPr/>
          <p:nvPr/>
        </p:nvSpPr>
        <p:spPr>
          <a:xfrm>
            <a:off x="6217920" y="1783080"/>
            <a:ext cx="539496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11" name="Shape 9"/>
          <p:cNvSpPr/>
          <p:nvPr/>
        </p:nvSpPr>
        <p:spPr>
          <a:xfrm>
            <a:off x="641908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12" name="Shape 10"/>
          <p:cNvSpPr/>
          <p:nvPr/>
        </p:nvSpPr>
        <p:spPr>
          <a:xfrm>
            <a:off x="6462979" y="2130552"/>
            <a:ext cx="204826" cy="0"/>
          </a:xfrm>
          <a:prstGeom prst="line">
            <a:avLst/>
          </a:prstGeom>
          <a:noFill/>
          <a:ln w="19050">
            <a:solidFill>
              <a:srgbClr val="FFFFFF"/>
            </a:solidFill>
            <a:prstDash val="solid"/>
          </a:ln>
        </p:spPr>
        <p:txBody>
          <a:bodyPr/>
          <a:lstStyle/>
          <a:p>
            <a:endParaRPr lang="en-US"/>
          </a:p>
        </p:txBody>
      </p:sp>
      <p:sp>
        <p:nvSpPr>
          <p:cNvPr id="13" name="Shape 11"/>
          <p:cNvSpPr/>
          <p:nvPr/>
        </p:nvSpPr>
        <p:spPr>
          <a:xfrm>
            <a:off x="6565392" y="2028139"/>
            <a:ext cx="0" cy="204826"/>
          </a:xfrm>
          <a:prstGeom prst="line">
            <a:avLst/>
          </a:prstGeom>
          <a:noFill/>
          <a:ln w="19050">
            <a:solidFill>
              <a:srgbClr val="FFFFFF"/>
            </a:solidFill>
            <a:prstDash val="solid"/>
          </a:ln>
        </p:spPr>
        <p:txBody>
          <a:bodyPr/>
          <a:lstStyle/>
          <a:p>
            <a:endParaRPr lang="en-US"/>
          </a:p>
        </p:txBody>
      </p:sp>
      <p:sp>
        <p:nvSpPr>
          <p:cNvPr id="14" name="Text 12"/>
          <p:cNvSpPr/>
          <p:nvPr/>
        </p:nvSpPr>
        <p:spPr>
          <a:xfrm>
            <a:off x="6812280" y="192938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NumPy array (.npy)</a:t>
            </a:r>
            <a:endParaRPr lang="en-US" sz="1350" dirty="0"/>
          </a:p>
        </p:txBody>
      </p:sp>
      <p:sp>
        <p:nvSpPr>
          <p:cNvPr id="15" name="Text 13"/>
          <p:cNvSpPr/>
          <p:nvPr/>
        </p:nvSpPr>
        <p:spPr>
          <a:xfrm>
            <a:off x="6446520" y="2404872"/>
            <a:ext cx="493776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Exact image array + dtype, for later Python analysis</a:t>
            </a:r>
            <a:endParaRPr lang="en-US" sz="1100" dirty="0"/>
          </a:p>
        </p:txBody>
      </p:sp>
      <p:sp>
        <p:nvSpPr>
          <p:cNvPr id="16" name="Shape 14"/>
          <p:cNvSpPr/>
          <p:nvPr/>
        </p:nvSpPr>
        <p:spPr>
          <a:xfrm>
            <a:off x="548640" y="4091940"/>
            <a:ext cx="539496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17" name="Shape 15"/>
          <p:cNvSpPr/>
          <p:nvPr/>
        </p:nvSpPr>
        <p:spPr>
          <a:xfrm>
            <a:off x="74980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18" name="Shape 16"/>
          <p:cNvSpPr/>
          <p:nvPr/>
        </p:nvSpPr>
        <p:spPr>
          <a:xfrm>
            <a:off x="793699" y="4439412"/>
            <a:ext cx="204826" cy="0"/>
          </a:xfrm>
          <a:prstGeom prst="line">
            <a:avLst/>
          </a:prstGeom>
          <a:noFill/>
          <a:ln w="19050">
            <a:solidFill>
              <a:srgbClr val="FFFFFF"/>
            </a:solidFill>
            <a:prstDash val="solid"/>
          </a:ln>
        </p:spPr>
        <p:txBody>
          <a:bodyPr/>
          <a:lstStyle/>
          <a:p>
            <a:endParaRPr lang="en-US"/>
          </a:p>
        </p:txBody>
      </p:sp>
      <p:sp>
        <p:nvSpPr>
          <p:cNvPr id="19" name="Shape 17"/>
          <p:cNvSpPr/>
          <p:nvPr/>
        </p:nvSpPr>
        <p:spPr>
          <a:xfrm>
            <a:off x="896112" y="4336999"/>
            <a:ext cx="0" cy="204826"/>
          </a:xfrm>
          <a:prstGeom prst="line">
            <a:avLst/>
          </a:prstGeom>
          <a:noFill/>
          <a:ln w="19050">
            <a:solidFill>
              <a:srgbClr val="FFFFFF"/>
            </a:solidFill>
            <a:prstDash val="solid"/>
          </a:ln>
        </p:spPr>
        <p:txBody>
          <a:bodyPr/>
          <a:lstStyle/>
          <a:p>
            <a:endParaRPr lang="en-US"/>
          </a:p>
        </p:txBody>
      </p:sp>
      <p:sp>
        <p:nvSpPr>
          <p:cNvPr id="20" name="Text 18"/>
          <p:cNvSpPr/>
          <p:nvPr/>
        </p:nvSpPr>
        <p:spPr>
          <a:xfrm>
            <a:off x="1143000" y="423824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JSON metadata (.json)</a:t>
            </a:r>
            <a:endParaRPr lang="en-US" sz="1350" dirty="0"/>
          </a:p>
        </p:txBody>
      </p:sp>
      <p:sp>
        <p:nvSpPr>
          <p:cNvPr id="21" name="Text 19"/>
          <p:cNvSpPr/>
          <p:nvPr/>
        </p:nvSpPr>
        <p:spPr>
          <a:xfrm>
            <a:off x="777240" y="4713732"/>
            <a:ext cx="493776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Settings + measurements: exposure, pixel pitch, centroid, Gaussian fit, signal quality, dark correction, profiles, second-moment data</a:t>
            </a:r>
            <a:endParaRPr lang="en-US" sz="1100" dirty="0"/>
          </a:p>
        </p:txBody>
      </p:sp>
      <p:sp>
        <p:nvSpPr>
          <p:cNvPr id="22" name="Shape 20"/>
          <p:cNvSpPr/>
          <p:nvPr/>
        </p:nvSpPr>
        <p:spPr>
          <a:xfrm>
            <a:off x="6217920" y="4091940"/>
            <a:ext cx="539496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23" name="Shape 21"/>
          <p:cNvSpPr/>
          <p:nvPr/>
        </p:nvSpPr>
        <p:spPr>
          <a:xfrm>
            <a:off x="641908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24" name="Shape 22"/>
          <p:cNvSpPr/>
          <p:nvPr/>
        </p:nvSpPr>
        <p:spPr>
          <a:xfrm>
            <a:off x="6462979" y="4439412"/>
            <a:ext cx="204826" cy="0"/>
          </a:xfrm>
          <a:prstGeom prst="line">
            <a:avLst/>
          </a:prstGeom>
          <a:noFill/>
          <a:ln w="19050">
            <a:solidFill>
              <a:srgbClr val="FFFFFF"/>
            </a:solidFill>
            <a:prstDash val="solid"/>
          </a:ln>
        </p:spPr>
        <p:txBody>
          <a:bodyPr/>
          <a:lstStyle/>
          <a:p>
            <a:endParaRPr lang="en-US"/>
          </a:p>
        </p:txBody>
      </p:sp>
      <p:sp>
        <p:nvSpPr>
          <p:cNvPr id="25" name="Shape 23"/>
          <p:cNvSpPr/>
          <p:nvPr/>
        </p:nvSpPr>
        <p:spPr>
          <a:xfrm>
            <a:off x="6565392" y="4336999"/>
            <a:ext cx="0" cy="204826"/>
          </a:xfrm>
          <a:prstGeom prst="line">
            <a:avLst/>
          </a:prstGeom>
          <a:noFill/>
          <a:ln w="19050">
            <a:solidFill>
              <a:srgbClr val="FFFFFF"/>
            </a:solidFill>
            <a:prstDash val="solid"/>
          </a:ln>
        </p:spPr>
        <p:txBody>
          <a:bodyPr/>
          <a:lstStyle/>
          <a:p>
            <a:endParaRPr lang="en-US"/>
          </a:p>
        </p:txBody>
      </p:sp>
      <p:sp>
        <p:nvSpPr>
          <p:cNvPr id="26" name="Text 24"/>
          <p:cNvSpPr/>
          <p:nvPr/>
        </p:nvSpPr>
        <p:spPr>
          <a:xfrm>
            <a:off x="6812280" y="4238244"/>
            <a:ext cx="461772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Display TIFF (_display16.tif)</a:t>
            </a:r>
            <a:endParaRPr lang="en-US" sz="1350" dirty="0"/>
          </a:p>
        </p:txBody>
      </p:sp>
      <p:sp>
        <p:nvSpPr>
          <p:cNvPr id="27" name="Text 25"/>
          <p:cNvSpPr/>
          <p:nvPr/>
        </p:nvSpPr>
        <p:spPr>
          <a:xfrm>
            <a:off x="6446520" y="4713732"/>
            <a:ext cx="493776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16-bit, display-range-shifted copy for easy viewing — not for quantitative use</a:t>
            </a:r>
            <a:endParaRPr lang="en-US" sz="1100" dirty="0"/>
          </a:p>
        </p:txBody>
      </p:sp>
      <p:sp>
        <p:nvSpPr>
          <p:cNvPr id="28" name="Text 26"/>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29" name="Text 27"/>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OUTPUT &amp; TROUBLESHOOTING</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Presets &amp; Persistent Settings</a:t>
            </a:r>
            <a:endParaRPr lang="en-US" sz="3200" dirty="0"/>
          </a:p>
        </p:txBody>
      </p:sp>
      <p:sp>
        <p:nvSpPr>
          <p:cNvPr id="4" name="Shape 2"/>
          <p:cNvSpPr/>
          <p:nvPr/>
        </p:nvSpPr>
        <p:spPr>
          <a:xfrm>
            <a:off x="548640" y="1810512"/>
            <a:ext cx="274320" cy="274320"/>
          </a:xfrm>
          <a:prstGeom prst="ellipse">
            <a:avLst/>
          </a:prstGeom>
          <a:solidFill>
            <a:srgbClr val="E63946"/>
          </a:solidFill>
          <a:ln w="12700">
            <a:solidFill>
              <a:srgbClr val="E63946"/>
            </a:solidFill>
            <a:prstDash val="solid"/>
          </a:ln>
        </p:spPr>
        <p:txBody>
          <a:bodyPr/>
          <a:lstStyle/>
          <a:p>
            <a:endParaRPr lang="en-US"/>
          </a:p>
        </p:txBody>
      </p:sp>
      <p:sp>
        <p:nvSpPr>
          <p:cNvPr id="5" name="Shape 3"/>
          <p:cNvSpPr/>
          <p:nvPr/>
        </p:nvSpPr>
        <p:spPr>
          <a:xfrm>
            <a:off x="589788" y="1947672"/>
            <a:ext cx="192024" cy="0"/>
          </a:xfrm>
          <a:prstGeom prst="line">
            <a:avLst/>
          </a:prstGeom>
          <a:noFill/>
          <a:ln w="19050">
            <a:solidFill>
              <a:srgbClr val="FFFFFF"/>
            </a:solidFill>
            <a:prstDash val="solid"/>
          </a:ln>
        </p:spPr>
        <p:txBody>
          <a:bodyPr/>
          <a:lstStyle/>
          <a:p>
            <a:endParaRPr lang="en-US"/>
          </a:p>
        </p:txBody>
      </p:sp>
      <p:sp>
        <p:nvSpPr>
          <p:cNvPr id="6" name="Shape 4"/>
          <p:cNvSpPr/>
          <p:nvPr/>
        </p:nvSpPr>
        <p:spPr>
          <a:xfrm>
            <a:off x="685800" y="1851660"/>
            <a:ext cx="0" cy="192024"/>
          </a:xfrm>
          <a:prstGeom prst="line">
            <a:avLst/>
          </a:prstGeom>
          <a:noFill/>
          <a:ln w="19050">
            <a:solidFill>
              <a:srgbClr val="FFFFFF"/>
            </a:solidFill>
            <a:prstDash val="solid"/>
          </a:ln>
        </p:spPr>
        <p:txBody>
          <a:bodyPr/>
          <a:lstStyle/>
          <a:p>
            <a:endParaRPr lang="en-US"/>
          </a:p>
        </p:txBody>
      </p:sp>
      <p:sp>
        <p:nvSpPr>
          <p:cNvPr id="7" name="Text 5"/>
          <p:cNvSpPr/>
          <p:nvPr/>
        </p:nvSpPr>
        <p:spPr>
          <a:xfrm>
            <a:off x="1024128" y="1737360"/>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Presets file</a:t>
            </a:r>
            <a:r>
              <a:rPr lang="en-US" sz="1500" dirty="0">
                <a:solidFill>
                  <a:srgbClr val="6B7789"/>
                </a:solidFill>
                <a:latin typeface="Calibri" pitchFamily="34" charset="0"/>
                <a:ea typeface="Calibri" pitchFamily="34" charset="-122"/>
                <a:cs typeface="Calibri" pitchFamily="34" charset="-120"/>
              </a:rPr>
              <a:t>  —  beam_profiler_presets.json — save/load/delete named configurations</a:t>
            </a:r>
            <a:endParaRPr lang="en-US" sz="1500" dirty="0"/>
          </a:p>
        </p:txBody>
      </p:sp>
      <p:sp>
        <p:nvSpPr>
          <p:cNvPr id="8" name="Shape 6"/>
          <p:cNvSpPr/>
          <p:nvPr/>
        </p:nvSpPr>
        <p:spPr>
          <a:xfrm>
            <a:off x="548640" y="2395728"/>
            <a:ext cx="274320" cy="274320"/>
          </a:xfrm>
          <a:prstGeom prst="ellipse">
            <a:avLst/>
          </a:prstGeom>
          <a:solidFill>
            <a:srgbClr val="E63946"/>
          </a:solidFill>
          <a:ln w="12700">
            <a:solidFill>
              <a:srgbClr val="E63946"/>
            </a:solidFill>
            <a:prstDash val="solid"/>
          </a:ln>
        </p:spPr>
        <p:txBody>
          <a:bodyPr/>
          <a:lstStyle/>
          <a:p>
            <a:endParaRPr lang="en-US"/>
          </a:p>
        </p:txBody>
      </p:sp>
      <p:sp>
        <p:nvSpPr>
          <p:cNvPr id="9" name="Shape 7"/>
          <p:cNvSpPr/>
          <p:nvPr/>
        </p:nvSpPr>
        <p:spPr>
          <a:xfrm>
            <a:off x="589788" y="2532888"/>
            <a:ext cx="192024" cy="0"/>
          </a:xfrm>
          <a:prstGeom prst="line">
            <a:avLst/>
          </a:prstGeom>
          <a:noFill/>
          <a:ln w="19050">
            <a:solidFill>
              <a:srgbClr val="FFFFFF"/>
            </a:solidFill>
            <a:prstDash val="solid"/>
          </a:ln>
        </p:spPr>
        <p:txBody>
          <a:bodyPr/>
          <a:lstStyle/>
          <a:p>
            <a:endParaRPr lang="en-US"/>
          </a:p>
        </p:txBody>
      </p:sp>
      <p:sp>
        <p:nvSpPr>
          <p:cNvPr id="10" name="Shape 8"/>
          <p:cNvSpPr/>
          <p:nvPr/>
        </p:nvSpPr>
        <p:spPr>
          <a:xfrm>
            <a:off x="685800" y="2436876"/>
            <a:ext cx="0" cy="192024"/>
          </a:xfrm>
          <a:prstGeom prst="line">
            <a:avLst/>
          </a:prstGeom>
          <a:noFill/>
          <a:ln w="19050">
            <a:solidFill>
              <a:srgbClr val="FFFFFF"/>
            </a:solidFill>
            <a:prstDash val="solid"/>
          </a:ln>
        </p:spPr>
        <p:txBody>
          <a:bodyPr/>
          <a:lstStyle/>
          <a:p>
            <a:endParaRPr lang="en-US"/>
          </a:p>
        </p:txBody>
      </p:sp>
      <p:sp>
        <p:nvSpPr>
          <p:cNvPr id="11" name="Text 9"/>
          <p:cNvSpPr/>
          <p:nvPr/>
        </p:nvSpPr>
        <p:spPr>
          <a:xfrm>
            <a:off x="1024128" y="2322576"/>
            <a:ext cx="10131552" cy="457200"/>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Qt settings</a:t>
            </a:r>
            <a:r>
              <a:rPr lang="en-US" sz="1500" dirty="0">
                <a:solidFill>
                  <a:srgbClr val="6B7789"/>
                </a:solidFill>
                <a:latin typeface="Calibri" pitchFamily="34" charset="0"/>
                <a:ea typeface="Calibri" pitchFamily="34" charset="-122"/>
                <a:cs typeface="Calibri" pitchFamily="34" charset="-120"/>
              </a:rPr>
              <a:t>  —  also remember applicable interface/operating choices between sessions</a:t>
            </a:r>
            <a:endParaRPr lang="en-US" sz="1500" dirty="0"/>
          </a:p>
        </p:txBody>
      </p:sp>
      <p:sp>
        <p:nvSpPr>
          <p:cNvPr id="12" name="Shape 10"/>
          <p:cNvSpPr/>
          <p:nvPr/>
        </p:nvSpPr>
        <p:spPr>
          <a:xfrm>
            <a:off x="548640" y="2980944"/>
            <a:ext cx="274320" cy="274320"/>
          </a:xfrm>
          <a:prstGeom prst="ellipse">
            <a:avLst/>
          </a:prstGeom>
          <a:solidFill>
            <a:srgbClr val="E63946"/>
          </a:solidFill>
          <a:ln w="12700">
            <a:solidFill>
              <a:srgbClr val="E63946"/>
            </a:solidFill>
            <a:prstDash val="solid"/>
          </a:ln>
        </p:spPr>
        <p:txBody>
          <a:bodyPr/>
          <a:lstStyle/>
          <a:p>
            <a:endParaRPr lang="en-US"/>
          </a:p>
        </p:txBody>
      </p:sp>
      <p:sp>
        <p:nvSpPr>
          <p:cNvPr id="13" name="Shape 11"/>
          <p:cNvSpPr/>
          <p:nvPr/>
        </p:nvSpPr>
        <p:spPr>
          <a:xfrm>
            <a:off x="589788" y="3118104"/>
            <a:ext cx="192024" cy="0"/>
          </a:xfrm>
          <a:prstGeom prst="line">
            <a:avLst/>
          </a:prstGeom>
          <a:noFill/>
          <a:ln w="19050">
            <a:solidFill>
              <a:srgbClr val="FFFFFF"/>
            </a:solidFill>
            <a:prstDash val="solid"/>
          </a:ln>
        </p:spPr>
        <p:txBody>
          <a:bodyPr/>
          <a:lstStyle/>
          <a:p>
            <a:endParaRPr lang="en-US"/>
          </a:p>
        </p:txBody>
      </p:sp>
      <p:sp>
        <p:nvSpPr>
          <p:cNvPr id="14" name="Shape 12"/>
          <p:cNvSpPr/>
          <p:nvPr/>
        </p:nvSpPr>
        <p:spPr>
          <a:xfrm>
            <a:off x="685800" y="3022092"/>
            <a:ext cx="0" cy="192024"/>
          </a:xfrm>
          <a:prstGeom prst="line">
            <a:avLst/>
          </a:prstGeom>
          <a:noFill/>
          <a:ln w="19050">
            <a:solidFill>
              <a:srgbClr val="FFFFFF"/>
            </a:solidFill>
            <a:prstDash val="solid"/>
          </a:ln>
        </p:spPr>
        <p:txBody>
          <a:bodyPr/>
          <a:lstStyle/>
          <a:p>
            <a:endParaRPr lang="en-US"/>
          </a:p>
        </p:txBody>
      </p:sp>
      <p:sp>
        <p:nvSpPr>
          <p:cNvPr id="15" name="Text 13"/>
          <p:cNvSpPr/>
          <p:nvPr/>
        </p:nvSpPr>
        <p:spPr>
          <a:xfrm>
            <a:off x="1024128" y="2907792"/>
            <a:ext cx="10131552" cy="576072"/>
          </a:xfrm>
          <a:prstGeom prst="rect">
            <a:avLst/>
          </a:prstGeom>
          <a:noFill/>
          <a:ln/>
        </p:spPr>
        <p:txBody>
          <a:bodyPr wrap="square" rtlCol="0" anchor="t"/>
          <a:lstStyle/>
          <a:p>
            <a:pPr marL="0" indent="0">
              <a:buNone/>
            </a:pPr>
            <a:r>
              <a:rPr lang="en-US" sz="1500" b="1" dirty="0">
                <a:solidFill>
                  <a:srgbClr val="26313F"/>
                </a:solidFill>
                <a:latin typeface="Calibri" pitchFamily="34" charset="0"/>
                <a:ea typeface="Calibri" pitchFamily="34" charset="-122"/>
                <a:cs typeface="Calibri" pitchFamily="34" charset="-120"/>
              </a:rPr>
              <a:t>A preset is a starting point, not a calibration</a:t>
            </a:r>
            <a:r>
              <a:rPr lang="en-US" sz="1500" dirty="0">
                <a:solidFill>
                  <a:srgbClr val="6B7789"/>
                </a:solidFill>
                <a:latin typeface="Calibri" pitchFamily="34" charset="0"/>
                <a:ea typeface="Calibri" pitchFamily="34" charset="-122"/>
                <a:cs typeface="Calibri" pitchFamily="34" charset="-120"/>
              </a:rPr>
              <a:t>  —  re-verify exposure, pixel pitch, dark frame, wavelength, and power calibration after changing cameras or optics</a:t>
            </a:r>
            <a:endParaRPr lang="en-US" sz="1500" dirty="0"/>
          </a:p>
        </p:txBody>
      </p:sp>
      <p:sp>
        <p:nvSpPr>
          <p:cNvPr id="16" name="Text 14"/>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17" name="Text 15"/>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74320"/>
          </a:xfrm>
          <a:prstGeom prst="rect">
            <a:avLst/>
          </a:prstGeom>
          <a:noFill/>
          <a:ln/>
        </p:spPr>
        <p:txBody>
          <a:bodyPr wrap="square" rtlCol="0" anchor="ctr"/>
          <a:lstStyle/>
          <a:p>
            <a:pPr marL="0" indent="0">
              <a:buNone/>
            </a:pPr>
            <a:r>
              <a:rPr lang="en-US" sz="1200" b="1" kern="0" spc="100" dirty="0">
                <a:solidFill>
                  <a:srgbClr val="E63946"/>
                </a:solidFill>
                <a:latin typeface="Calibri" pitchFamily="34" charset="0"/>
                <a:ea typeface="Calibri" pitchFamily="34" charset="-122"/>
                <a:cs typeface="Calibri" pitchFamily="34" charset="-120"/>
              </a:rPr>
              <a:t>OUTPUT &amp; TROUBLESHOOTING</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marL="0" indent="0" algn="l">
              <a:buNone/>
            </a:pPr>
            <a:r>
              <a:rPr lang="en-US" sz="3200" b="1" dirty="0">
                <a:solidFill>
                  <a:srgbClr val="10243E"/>
                </a:solidFill>
                <a:latin typeface="Cambria" pitchFamily="34" charset="0"/>
                <a:ea typeface="Cambria" pitchFamily="34" charset="-122"/>
                <a:cs typeface="Cambria" pitchFamily="34" charset="-120"/>
              </a:rPr>
              <a:t>Troubleshooting Quick Reference</a:t>
            </a:r>
            <a:endParaRPr lang="en-US" sz="3200" dirty="0"/>
          </a:p>
        </p:txBody>
      </p:sp>
      <p:sp>
        <p:nvSpPr>
          <p:cNvPr id="4" name="Shape 2"/>
          <p:cNvSpPr/>
          <p:nvPr/>
        </p:nvSpPr>
        <p:spPr>
          <a:xfrm>
            <a:off x="548640" y="178308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5" name="Shape 3"/>
          <p:cNvSpPr/>
          <p:nvPr/>
        </p:nvSpPr>
        <p:spPr>
          <a:xfrm>
            <a:off x="74980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6" name="Shape 4"/>
          <p:cNvSpPr/>
          <p:nvPr/>
        </p:nvSpPr>
        <p:spPr>
          <a:xfrm>
            <a:off x="793699" y="2130552"/>
            <a:ext cx="204826" cy="0"/>
          </a:xfrm>
          <a:prstGeom prst="line">
            <a:avLst/>
          </a:prstGeom>
          <a:noFill/>
          <a:ln w="19050">
            <a:solidFill>
              <a:srgbClr val="FFFFFF"/>
            </a:solidFill>
            <a:prstDash val="solid"/>
          </a:ln>
        </p:spPr>
        <p:txBody>
          <a:bodyPr/>
          <a:lstStyle/>
          <a:p>
            <a:endParaRPr lang="en-US"/>
          </a:p>
        </p:txBody>
      </p:sp>
      <p:sp>
        <p:nvSpPr>
          <p:cNvPr id="7" name="Shape 5"/>
          <p:cNvSpPr/>
          <p:nvPr/>
        </p:nvSpPr>
        <p:spPr>
          <a:xfrm>
            <a:off x="896112" y="2028139"/>
            <a:ext cx="0" cy="204826"/>
          </a:xfrm>
          <a:prstGeom prst="line">
            <a:avLst/>
          </a:prstGeom>
          <a:noFill/>
          <a:ln w="19050">
            <a:solidFill>
              <a:srgbClr val="FFFFFF"/>
            </a:solidFill>
            <a:prstDash val="solid"/>
          </a:ln>
        </p:spPr>
        <p:txBody>
          <a:bodyPr/>
          <a:lstStyle/>
          <a:p>
            <a:endParaRPr lang="en-US"/>
          </a:p>
        </p:txBody>
      </p:sp>
      <p:sp>
        <p:nvSpPr>
          <p:cNvPr id="8" name="Text 6"/>
          <p:cNvSpPr/>
          <p:nvPr/>
        </p:nvSpPr>
        <p:spPr>
          <a:xfrm>
            <a:off x="1143000" y="192938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No cameras found</a:t>
            </a:r>
            <a:endParaRPr lang="en-US" sz="1350" dirty="0"/>
          </a:p>
        </p:txBody>
      </p:sp>
      <p:sp>
        <p:nvSpPr>
          <p:cNvPr id="9" name="Text 7"/>
          <p:cNvSpPr/>
          <p:nvPr/>
        </p:nvSpPr>
        <p:spPr>
          <a:xfrm>
            <a:off x="777240" y="240487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Check power/connection, correct backend, driver/SDK installed, camera not in use elsewhere</a:t>
            </a:r>
            <a:endParaRPr lang="en-US" sz="1100" dirty="0"/>
          </a:p>
        </p:txBody>
      </p:sp>
      <p:sp>
        <p:nvSpPr>
          <p:cNvPr id="10" name="Shape 8"/>
          <p:cNvSpPr/>
          <p:nvPr/>
        </p:nvSpPr>
        <p:spPr>
          <a:xfrm>
            <a:off x="4328160" y="178308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11" name="Shape 9"/>
          <p:cNvSpPr/>
          <p:nvPr/>
        </p:nvSpPr>
        <p:spPr>
          <a:xfrm>
            <a:off x="452932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12" name="Shape 10"/>
          <p:cNvSpPr/>
          <p:nvPr/>
        </p:nvSpPr>
        <p:spPr>
          <a:xfrm>
            <a:off x="4573219" y="2130552"/>
            <a:ext cx="204826" cy="0"/>
          </a:xfrm>
          <a:prstGeom prst="line">
            <a:avLst/>
          </a:prstGeom>
          <a:noFill/>
          <a:ln w="19050">
            <a:solidFill>
              <a:srgbClr val="FFFFFF"/>
            </a:solidFill>
            <a:prstDash val="solid"/>
          </a:ln>
        </p:spPr>
        <p:txBody>
          <a:bodyPr/>
          <a:lstStyle/>
          <a:p>
            <a:endParaRPr lang="en-US"/>
          </a:p>
        </p:txBody>
      </p:sp>
      <p:sp>
        <p:nvSpPr>
          <p:cNvPr id="13" name="Shape 11"/>
          <p:cNvSpPr/>
          <p:nvPr/>
        </p:nvSpPr>
        <p:spPr>
          <a:xfrm>
            <a:off x="4675632" y="2028139"/>
            <a:ext cx="0" cy="204826"/>
          </a:xfrm>
          <a:prstGeom prst="line">
            <a:avLst/>
          </a:prstGeom>
          <a:noFill/>
          <a:ln w="19050">
            <a:solidFill>
              <a:srgbClr val="FFFFFF"/>
            </a:solidFill>
            <a:prstDash val="solid"/>
          </a:ln>
        </p:spPr>
        <p:txBody>
          <a:bodyPr/>
          <a:lstStyle/>
          <a:p>
            <a:endParaRPr lang="en-US"/>
          </a:p>
        </p:txBody>
      </p:sp>
      <p:sp>
        <p:nvSpPr>
          <p:cNvPr id="14" name="Text 12"/>
          <p:cNvSpPr/>
          <p:nvPr/>
        </p:nvSpPr>
        <p:spPr>
          <a:xfrm>
            <a:off x="4922520" y="192938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Image is black</a:t>
            </a:r>
            <a:endParaRPr lang="en-US" sz="1350" dirty="0"/>
          </a:p>
        </p:txBody>
      </p:sp>
      <p:sp>
        <p:nvSpPr>
          <p:cNvPr id="15" name="Text 13"/>
          <p:cNvSpPr/>
          <p:nvPr/>
        </p:nvSpPr>
        <p:spPr>
          <a:xfrm>
            <a:off x="4556760" y="240487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Raise exposure, confirm beam reaches sensor, check dark-frame validity, confirm device selection</a:t>
            </a:r>
            <a:endParaRPr lang="en-US" sz="1100" dirty="0"/>
          </a:p>
        </p:txBody>
      </p:sp>
      <p:sp>
        <p:nvSpPr>
          <p:cNvPr id="16" name="Shape 14"/>
          <p:cNvSpPr/>
          <p:nvPr/>
        </p:nvSpPr>
        <p:spPr>
          <a:xfrm>
            <a:off x="8107680" y="178308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17" name="Shape 15"/>
          <p:cNvSpPr/>
          <p:nvPr/>
        </p:nvSpPr>
        <p:spPr>
          <a:xfrm>
            <a:off x="8308848" y="1984248"/>
            <a:ext cx="292608" cy="292608"/>
          </a:xfrm>
          <a:prstGeom prst="ellipse">
            <a:avLst/>
          </a:prstGeom>
          <a:solidFill>
            <a:srgbClr val="E63946"/>
          </a:solidFill>
          <a:ln w="12700">
            <a:solidFill>
              <a:srgbClr val="E63946"/>
            </a:solidFill>
            <a:prstDash val="solid"/>
          </a:ln>
        </p:spPr>
        <p:txBody>
          <a:bodyPr/>
          <a:lstStyle/>
          <a:p>
            <a:endParaRPr lang="en-US"/>
          </a:p>
        </p:txBody>
      </p:sp>
      <p:sp>
        <p:nvSpPr>
          <p:cNvPr id="18" name="Shape 16"/>
          <p:cNvSpPr/>
          <p:nvPr/>
        </p:nvSpPr>
        <p:spPr>
          <a:xfrm>
            <a:off x="8352739" y="2130552"/>
            <a:ext cx="204826" cy="0"/>
          </a:xfrm>
          <a:prstGeom prst="line">
            <a:avLst/>
          </a:prstGeom>
          <a:noFill/>
          <a:ln w="19050">
            <a:solidFill>
              <a:srgbClr val="FFFFFF"/>
            </a:solidFill>
            <a:prstDash val="solid"/>
          </a:ln>
        </p:spPr>
        <p:txBody>
          <a:bodyPr/>
          <a:lstStyle/>
          <a:p>
            <a:endParaRPr lang="en-US"/>
          </a:p>
        </p:txBody>
      </p:sp>
      <p:sp>
        <p:nvSpPr>
          <p:cNvPr id="19" name="Shape 17"/>
          <p:cNvSpPr/>
          <p:nvPr/>
        </p:nvSpPr>
        <p:spPr>
          <a:xfrm>
            <a:off x="8455152" y="2028139"/>
            <a:ext cx="0" cy="204826"/>
          </a:xfrm>
          <a:prstGeom prst="line">
            <a:avLst/>
          </a:prstGeom>
          <a:noFill/>
          <a:ln w="19050">
            <a:solidFill>
              <a:srgbClr val="FFFFFF"/>
            </a:solidFill>
            <a:prstDash val="solid"/>
          </a:ln>
        </p:spPr>
        <p:txBody>
          <a:bodyPr/>
          <a:lstStyle/>
          <a:p>
            <a:endParaRPr lang="en-US"/>
          </a:p>
        </p:txBody>
      </p:sp>
      <p:sp>
        <p:nvSpPr>
          <p:cNvPr id="20" name="Text 18"/>
          <p:cNvSpPr/>
          <p:nvPr/>
        </p:nvSpPr>
        <p:spPr>
          <a:xfrm>
            <a:off x="8702040" y="192938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Image is saturated</a:t>
            </a:r>
            <a:endParaRPr lang="en-US" sz="1350" dirty="0"/>
          </a:p>
        </p:txBody>
      </p:sp>
      <p:sp>
        <p:nvSpPr>
          <p:cNvPr id="21" name="Text 19"/>
          <p:cNvSpPr/>
          <p:nvPr/>
        </p:nvSpPr>
        <p:spPr>
          <a:xfrm>
            <a:off x="8336280" y="240487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Reduce exposure/gain/power; add attenuation before trusting any width/power reading</a:t>
            </a:r>
            <a:endParaRPr lang="en-US" sz="1100" dirty="0"/>
          </a:p>
        </p:txBody>
      </p:sp>
      <p:sp>
        <p:nvSpPr>
          <p:cNvPr id="22" name="Shape 20"/>
          <p:cNvSpPr/>
          <p:nvPr/>
        </p:nvSpPr>
        <p:spPr>
          <a:xfrm>
            <a:off x="548640" y="409194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23" name="Shape 21"/>
          <p:cNvSpPr/>
          <p:nvPr/>
        </p:nvSpPr>
        <p:spPr>
          <a:xfrm>
            <a:off x="74980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24" name="Shape 22"/>
          <p:cNvSpPr/>
          <p:nvPr/>
        </p:nvSpPr>
        <p:spPr>
          <a:xfrm>
            <a:off x="793699" y="4439412"/>
            <a:ext cx="204826" cy="0"/>
          </a:xfrm>
          <a:prstGeom prst="line">
            <a:avLst/>
          </a:prstGeom>
          <a:noFill/>
          <a:ln w="19050">
            <a:solidFill>
              <a:srgbClr val="FFFFFF"/>
            </a:solidFill>
            <a:prstDash val="solid"/>
          </a:ln>
        </p:spPr>
        <p:txBody>
          <a:bodyPr/>
          <a:lstStyle/>
          <a:p>
            <a:endParaRPr lang="en-US"/>
          </a:p>
        </p:txBody>
      </p:sp>
      <p:sp>
        <p:nvSpPr>
          <p:cNvPr id="25" name="Shape 23"/>
          <p:cNvSpPr/>
          <p:nvPr/>
        </p:nvSpPr>
        <p:spPr>
          <a:xfrm>
            <a:off x="896112" y="4336999"/>
            <a:ext cx="0" cy="204826"/>
          </a:xfrm>
          <a:prstGeom prst="line">
            <a:avLst/>
          </a:prstGeom>
          <a:noFill/>
          <a:ln w="19050">
            <a:solidFill>
              <a:srgbClr val="FFFFFF"/>
            </a:solidFill>
            <a:prstDash val="solid"/>
          </a:ln>
        </p:spPr>
        <p:txBody>
          <a:bodyPr/>
          <a:lstStyle/>
          <a:p>
            <a:endParaRPr lang="en-US"/>
          </a:p>
        </p:txBody>
      </p:sp>
      <p:sp>
        <p:nvSpPr>
          <p:cNvPr id="26" name="Text 24"/>
          <p:cNvSpPr/>
          <p:nvPr/>
        </p:nvSpPr>
        <p:spPr>
          <a:xfrm>
            <a:off x="1143000" y="423824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D4σ invalid/truncated</a:t>
            </a:r>
            <a:endParaRPr lang="en-US" sz="1350" dirty="0"/>
          </a:p>
        </p:txBody>
      </p:sp>
      <p:sp>
        <p:nvSpPr>
          <p:cNvPr id="27" name="Text 25"/>
          <p:cNvSpPr/>
          <p:nvPr/>
        </p:nvSpPr>
        <p:spPr>
          <a:xfrm>
            <a:off x="777240" y="471373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Enlarge calc area, remove stray light/reflections, apply a valid dark frame, mask hot pixels</a:t>
            </a:r>
            <a:endParaRPr lang="en-US" sz="1100" dirty="0"/>
          </a:p>
        </p:txBody>
      </p:sp>
      <p:sp>
        <p:nvSpPr>
          <p:cNvPr id="28" name="Shape 26"/>
          <p:cNvSpPr/>
          <p:nvPr/>
        </p:nvSpPr>
        <p:spPr>
          <a:xfrm>
            <a:off x="4328160" y="409194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29" name="Shape 27"/>
          <p:cNvSpPr/>
          <p:nvPr/>
        </p:nvSpPr>
        <p:spPr>
          <a:xfrm>
            <a:off x="452932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30" name="Shape 28"/>
          <p:cNvSpPr/>
          <p:nvPr/>
        </p:nvSpPr>
        <p:spPr>
          <a:xfrm>
            <a:off x="4573219" y="4439412"/>
            <a:ext cx="204826" cy="0"/>
          </a:xfrm>
          <a:prstGeom prst="line">
            <a:avLst/>
          </a:prstGeom>
          <a:noFill/>
          <a:ln w="19050">
            <a:solidFill>
              <a:srgbClr val="FFFFFF"/>
            </a:solidFill>
            <a:prstDash val="solid"/>
          </a:ln>
        </p:spPr>
        <p:txBody>
          <a:bodyPr/>
          <a:lstStyle/>
          <a:p>
            <a:endParaRPr lang="en-US"/>
          </a:p>
        </p:txBody>
      </p:sp>
      <p:sp>
        <p:nvSpPr>
          <p:cNvPr id="31" name="Shape 29"/>
          <p:cNvSpPr/>
          <p:nvPr/>
        </p:nvSpPr>
        <p:spPr>
          <a:xfrm>
            <a:off x="4675632" y="4336999"/>
            <a:ext cx="0" cy="204826"/>
          </a:xfrm>
          <a:prstGeom prst="line">
            <a:avLst/>
          </a:prstGeom>
          <a:noFill/>
          <a:ln w="19050">
            <a:solidFill>
              <a:srgbClr val="FFFFFF"/>
            </a:solidFill>
            <a:prstDash val="solid"/>
          </a:ln>
        </p:spPr>
        <p:txBody>
          <a:bodyPr/>
          <a:lstStyle/>
          <a:p>
            <a:endParaRPr lang="en-US"/>
          </a:p>
        </p:txBody>
      </p:sp>
      <p:sp>
        <p:nvSpPr>
          <p:cNvPr id="32" name="Text 30"/>
          <p:cNvSpPr/>
          <p:nvPr/>
        </p:nvSpPr>
        <p:spPr>
          <a:xfrm>
            <a:off x="4922520" y="423824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Gaussian diameter missing</a:t>
            </a:r>
            <a:endParaRPr lang="en-US" sz="1350" dirty="0"/>
          </a:p>
        </p:txBody>
      </p:sp>
      <p:sp>
        <p:nvSpPr>
          <p:cNvPr id="33" name="Text 31"/>
          <p:cNvSpPr/>
          <p:nvPr/>
        </p:nvSpPr>
        <p:spPr>
          <a:xfrm>
            <a:off x="4556760" y="471373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Profile didn't meet the R² threshold — may correctly mean a non-Gaussian beam. Lower the gaussian threshold in advanced settings</a:t>
            </a:r>
            <a:endParaRPr lang="en-US" sz="1100" dirty="0"/>
          </a:p>
        </p:txBody>
      </p:sp>
      <p:sp>
        <p:nvSpPr>
          <p:cNvPr id="34" name="Shape 32"/>
          <p:cNvSpPr/>
          <p:nvPr/>
        </p:nvSpPr>
        <p:spPr>
          <a:xfrm>
            <a:off x="8107680" y="4091940"/>
            <a:ext cx="3505200" cy="2034540"/>
          </a:xfrm>
          <a:prstGeom prst="roundRect">
            <a:avLst>
              <a:gd name="adj" fmla="val 3146"/>
            </a:avLst>
          </a:prstGeom>
          <a:solidFill>
            <a:srgbClr val="F6F8FA"/>
          </a:solidFill>
          <a:ln w="9525">
            <a:solidFill>
              <a:srgbClr val="DDE3E9"/>
            </a:solidFill>
            <a:prstDash val="solid"/>
          </a:ln>
        </p:spPr>
        <p:txBody>
          <a:bodyPr/>
          <a:lstStyle/>
          <a:p>
            <a:endParaRPr lang="en-US"/>
          </a:p>
        </p:txBody>
      </p:sp>
      <p:sp>
        <p:nvSpPr>
          <p:cNvPr id="35" name="Shape 33"/>
          <p:cNvSpPr/>
          <p:nvPr/>
        </p:nvSpPr>
        <p:spPr>
          <a:xfrm>
            <a:off x="8308848" y="4293108"/>
            <a:ext cx="292608" cy="292608"/>
          </a:xfrm>
          <a:prstGeom prst="ellipse">
            <a:avLst/>
          </a:prstGeom>
          <a:solidFill>
            <a:srgbClr val="E63946"/>
          </a:solidFill>
          <a:ln w="12700">
            <a:solidFill>
              <a:srgbClr val="E63946"/>
            </a:solidFill>
            <a:prstDash val="solid"/>
          </a:ln>
        </p:spPr>
        <p:txBody>
          <a:bodyPr/>
          <a:lstStyle/>
          <a:p>
            <a:endParaRPr lang="en-US"/>
          </a:p>
        </p:txBody>
      </p:sp>
      <p:sp>
        <p:nvSpPr>
          <p:cNvPr id="36" name="Shape 34"/>
          <p:cNvSpPr/>
          <p:nvPr/>
        </p:nvSpPr>
        <p:spPr>
          <a:xfrm>
            <a:off x="8352739" y="4439412"/>
            <a:ext cx="204826" cy="0"/>
          </a:xfrm>
          <a:prstGeom prst="line">
            <a:avLst/>
          </a:prstGeom>
          <a:noFill/>
          <a:ln w="19050">
            <a:solidFill>
              <a:srgbClr val="FFFFFF"/>
            </a:solidFill>
            <a:prstDash val="solid"/>
          </a:ln>
        </p:spPr>
        <p:txBody>
          <a:bodyPr/>
          <a:lstStyle/>
          <a:p>
            <a:endParaRPr lang="en-US"/>
          </a:p>
        </p:txBody>
      </p:sp>
      <p:sp>
        <p:nvSpPr>
          <p:cNvPr id="37" name="Shape 35"/>
          <p:cNvSpPr/>
          <p:nvPr/>
        </p:nvSpPr>
        <p:spPr>
          <a:xfrm>
            <a:off x="8455152" y="4336999"/>
            <a:ext cx="0" cy="204826"/>
          </a:xfrm>
          <a:prstGeom prst="line">
            <a:avLst/>
          </a:prstGeom>
          <a:noFill/>
          <a:ln w="19050">
            <a:solidFill>
              <a:srgbClr val="FFFFFF"/>
            </a:solidFill>
            <a:prstDash val="solid"/>
          </a:ln>
        </p:spPr>
        <p:txBody>
          <a:bodyPr/>
          <a:lstStyle/>
          <a:p>
            <a:endParaRPr lang="en-US"/>
          </a:p>
        </p:txBody>
      </p:sp>
      <p:sp>
        <p:nvSpPr>
          <p:cNvPr id="38" name="Text 36"/>
          <p:cNvSpPr/>
          <p:nvPr/>
        </p:nvSpPr>
        <p:spPr>
          <a:xfrm>
            <a:off x="8702040" y="4238244"/>
            <a:ext cx="2727960" cy="411480"/>
          </a:xfrm>
          <a:prstGeom prst="rect">
            <a:avLst/>
          </a:prstGeom>
          <a:noFill/>
          <a:ln/>
        </p:spPr>
        <p:txBody>
          <a:bodyPr wrap="square" rtlCol="0" anchor="ctr"/>
          <a:lstStyle/>
          <a:p>
            <a:pPr marL="0" indent="0">
              <a:buNone/>
            </a:pPr>
            <a:r>
              <a:rPr lang="en-US" sz="1350" b="1" dirty="0">
                <a:solidFill>
                  <a:srgbClr val="10243E"/>
                </a:solidFill>
                <a:latin typeface="Calibri" pitchFamily="34" charset="0"/>
                <a:ea typeface="Calibri" pitchFamily="34" charset="-122"/>
                <a:cs typeface="Calibri" pitchFamily="34" charset="-120"/>
              </a:rPr>
              <a:t>Frame rate is low</a:t>
            </a:r>
            <a:endParaRPr lang="en-US" sz="1350" dirty="0"/>
          </a:p>
        </p:txBody>
      </p:sp>
      <p:sp>
        <p:nvSpPr>
          <p:cNvPr id="39" name="Text 37"/>
          <p:cNvSpPr/>
          <p:nvPr/>
        </p:nvSpPr>
        <p:spPr>
          <a:xfrm>
            <a:off x="8336280" y="4713732"/>
            <a:ext cx="3048000" cy="1257300"/>
          </a:xfrm>
          <a:prstGeom prst="rect">
            <a:avLst/>
          </a:prstGeom>
          <a:noFill/>
          <a:ln/>
        </p:spPr>
        <p:txBody>
          <a:bodyPr wrap="square" rtlCol="0" anchor="t"/>
          <a:lstStyle/>
          <a:p>
            <a:pPr marL="0" indent="0">
              <a:buNone/>
            </a:pPr>
            <a:r>
              <a:rPr lang="en-US" sz="1100" dirty="0">
                <a:solidFill>
                  <a:srgbClr val="6B7789"/>
                </a:solidFill>
                <a:latin typeface="Calibri" pitchFamily="34" charset="0"/>
                <a:ea typeface="Calibri" pitchFamily="34" charset="-122"/>
                <a:cs typeface="Calibri" pitchFamily="34" charset="-120"/>
              </a:rPr>
              <a:t>Reduce exposure/averaging/resolution, raise display-rate cap, disable heavy diagnostics if unneeded</a:t>
            </a:r>
            <a:endParaRPr lang="en-US" sz="1100" dirty="0"/>
          </a:p>
        </p:txBody>
      </p:sp>
      <p:sp>
        <p:nvSpPr>
          <p:cNvPr id="40" name="Text 38"/>
          <p:cNvSpPr/>
          <p:nvPr/>
        </p:nvSpPr>
        <p:spPr>
          <a:xfrm>
            <a:off x="457200" y="6492240"/>
            <a:ext cx="5486400" cy="274320"/>
          </a:xfrm>
          <a:prstGeom prst="rect">
            <a:avLst/>
          </a:prstGeom>
          <a:noFill/>
          <a:ln/>
        </p:spPr>
        <p:txBody>
          <a:bodyPr wrap="square" rtlCol="0" anchor="ctr"/>
          <a:lstStyle/>
          <a:p>
            <a:pPr marL="0" indent="0" algn="l">
              <a:buNone/>
            </a:pPr>
            <a:r>
              <a:rPr lang="en-US" sz="900" dirty="0">
                <a:solidFill>
                  <a:srgbClr val="6B7789"/>
                </a:solidFill>
                <a:latin typeface="Calibri" pitchFamily="34" charset="0"/>
                <a:ea typeface="Calibri" pitchFamily="34" charset="-122"/>
                <a:cs typeface="Calibri" pitchFamily="34" charset="-120"/>
              </a:rPr>
              <a:t>VOILALab Beam — User Guide</a:t>
            </a:r>
            <a:endParaRPr lang="en-US" sz="900" dirty="0"/>
          </a:p>
        </p:txBody>
      </p:sp>
      <p:sp>
        <p:nvSpPr>
          <p:cNvPr id="41" name="Text 39"/>
          <p:cNvSpPr/>
          <p:nvPr/>
        </p:nvSpPr>
        <p:spPr>
          <a:xfrm>
            <a:off x="11247120" y="6492240"/>
            <a:ext cx="457200" cy="274320"/>
          </a:xfrm>
          <a:prstGeom prst="rect">
            <a:avLst/>
          </a:prstGeom>
          <a:noFill/>
          <a:ln/>
        </p:spPr>
        <p:txBody>
          <a:bodyPr wrap="square" rtlCol="0" anchor="ctr"/>
          <a:lstStyle/>
          <a:p>
            <a:pPr marL="0" indent="0" algn="r">
              <a:buNone/>
            </a:pPr>
            <a:r>
              <a:rPr lang="en-US" sz="900" dirty="0">
                <a:solidFill>
                  <a:srgbClr val="6B778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10243E"/>
        </a:solidFill>
        <a:effectLst/>
      </p:bgPr>
    </p:bg>
    <p:spTree>
      <p:nvGrpSpPr>
        <p:cNvPr id="1" name=""/>
        <p:cNvGrpSpPr/>
        <p:nvPr/>
      </p:nvGrpSpPr>
      <p:grpSpPr>
        <a:xfrm>
          <a:off x="0" y="0"/>
          <a:ext cx="0" cy="0"/>
          <a:chOff x="0" y="0"/>
          <a:chExt cx="0" cy="0"/>
        </a:xfrm>
      </p:grpSpPr>
      <p:sp>
        <p:nvSpPr>
          <p:cNvPr id="2" name="Text 0"/>
          <p:cNvSpPr/>
          <p:nvPr/>
        </p:nvSpPr>
        <p:spPr>
          <a:xfrm>
            <a:off x="731520" y="1965960"/>
            <a:ext cx="10607040" cy="73152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Questions &amp; Support</a:t>
            </a:r>
            <a:endParaRPr lang="en-US" sz="3400" dirty="0"/>
          </a:p>
        </p:txBody>
      </p:sp>
      <p:sp>
        <p:nvSpPr>
          <p:cNvPr id="3" name="Shape 1"/>
          <p:cNvSpPr/>
          <p:nvPr/>
        </p:nvSpPr>
        <p:spPr>
          <a:xfrm>
            <a:off x="5166360" y="2788920"/>
            <a:ext cx="1828800" cy="0"/>
          </a:xfrm>
          <a:prstGeom prst="line">
            <a:avLst/>
          </a:prstGeom>
          <a:noFill/>
          <a:ln w="19050">
            <a:solidFill>
              <a:srgbClr val="3E6B99"/>
            </a:solidFill>
            <a:prstDash val="solid"/>
          </a:ln>
        </p:spPr>
        <p:txBody>
          <a:bodyPr/>
          <a:lstStyle/>
          <a:p>
            <a:endParaRPr lang="en-US"/>
          </a:p>
        </p:txBody>
      </p:sp>
      <p:sp>
        <p:nvSpPr>
          <p:cNvPr id="4" name="Text 2"/>
          <p:cNvSpPr/>
          <p:nvPr/>
        </p:nvSpPr>
        <p:spPr>
          <a:xfrm>
            <a:off x="731520" y="3063240"/>
            <a:ext cx="10607040" cy="45720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Developed by the VOILA Lab</a:t>
            </a:r>
            <a:endParaRPr lang="en-US" sz="1600" dirty="0"/>
          </a:p>
        </p:txBody>
      </p:sp>
      <p:sp>
        <p:nvSpPr>
          <p:cNvPr id="5" name="Text 3"/>
          <p:cNvSpPr/>
          <p:nvPr/>
        </p:nvSpPr>
        <p:spPr>
          <a:xfrm>
            <a:off x="731520" y="3611880"/>
            <a:ext cx="10607040" cy="457200"/>
          </a:xfrm>
          <a:prstGeom prst="rect">
            <a:avLst/>
          </a:prstGeom>
          <a:noFill/>
          <a:ln/>
        </p:spPr>
        <p:txBody>
          <a:bodyPr wrap="square" rtlCol="0" anchor="ctr"/>
          <a:lstStyle/>
          <a:p>
            <a:pPr algn="ctr"/>
            <a:r>
              <a:rPr lang="en-US" sz="1300" i="1" dirty="0">
                <a:solidFill>
                  <a:srgbClr val="9FB3C8"/>
                </a:solidFill>
                <a:latin typeface="Calibri" pitchFamily="34" charset="0"/>
                <a:ea typeface="Calibri" pitchFamily="34" charset="-122"/>
                <a:cs typeface="Calibri" pitchFamily="34" charset="-120"/>
              </a:rPr>
              <a:t>Contact: Jason Liang, jason.liang2@howardcc.edu   •   Project: </a:t>
            </a:r>
            <a:r>
              <a:rPr lang="en-US" sz="1300" i="1" dirty="0">
                <a:solidFill>
                  <a:srgbClr val="9FB3C8"/>
                </a:solidFill>
                <a:latin typeface="Calibri" pitchFamily="34" charset="0"/>
                <a:ea typeface="Calibri" pitchFamily="34" charset="-122"/>
                <a:cs typeface="Calibri" pitchFamily="34" charset="-120"/>
                <a:hlinkClick r:id="rId3"/>
              </a:rPr>
              <a:t>https://github.com/cande3ee/VOILALab-Beam</a:t>
            </a:r>
            <a:endParaRPr lang="en-US" sz="1300" dirty="0"/>
          </a:p>
        </p:txBody>
      </p:sp>
      <p:sp>
        <p:nvSpPr>
          <p:cNvPr id="6" name="Text 4"/>
          <p:cNvSpPr/>
          <p:nvPr/>
        </p:nvSpPr>
        <p:spPr>
          <a:xfrm>
            <a:off x="1371600" y="5120640"/>
            <a:ext cx="9418320" cy="457200"/>
          </a:xfrm>
          <a:prstGeom prst="rect">
            <a:avLst/>
          </a:prstGeom>
          <a:noFill/>
          <a:ln/>
        </p:spPr>
        <p:txBody>
          <a:bodyPr wrap="square" rtlCol="0" anchor="ctr"/>
          <a:lstStyle/>
          <a:p>
            <a:pPr marL="0" indent="0" algn="ctr">
              <a:buNone/>
            </a:pPr>
            <a:r>
              <a:rPr lang="en-US" sz="1200" dirty="0">
                <a:solidFill>
                  <a:srgbClr val="6D82A0"/>
                </a:solidFill>
                <a:latin typeface="Calibri" pitchFamily="34" charset="0"/>
                <a:ea typeface="Calibri" pitchFamily="34" charset="-122"/>
                <a:cs typeface="Calibri" pitchFamily="34" charset="-120"/>
              </a:rPr>
              <a:t>See the full README for installation details, file formats, and complete troubleshooting steps.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1760</TotalTime>
  <Words>2418</Words>
  <Application>Microsoft Macintosh PowerPoint</Application>
  <PresentationFormat>Widescreen</PresentationFormat>
  <Paragraphs>349</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Jason Liang</cp:lastModifiedBy>
  <cp:revision>2</cp:revision>
  <dcterms:created xsi:type="dcterms:W3CDTF">2026-07-20T16:56:53Z</dcterms:created>
  <dcterms:modified xsi:type="dcterms:W3CDTF">2026-07-21T22:28:59Z</dcterms:modified>
</cp:coreProperties>
</file>